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2"/>
  </p:notesMasterIdLst>
  <p:sldIdLst>
    <p:sldId id="262" r:id="rId3"/>
    <p:sldId id="707" r:id="rId4"/>
    <p:sldId id="257" r:id="rId5"/>
    <p:sldId id="903" r:id="rId6"/>
    <p:sldId id="904" r:id="rId7"/>
    <p:sldId id="902" r:id="rId8"/>
    <p:sldId id="258" r:id="rId9"/>
    <p:sldId id="259" r:id="rId10"/>
    <p:sldId id="260"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9" d="100"/>
          <a:sy n="79" d="100"/>
        </p:scale>
        <p:origin x="564"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heme" Target="theme/theme1.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jendra Phalani Kumar" userId="389a6dc55115c720" providerId="LiveId" clId="{14305BFD-FE1A-444D-978C-E888FFF2BFC9}"/>
    <pc:docChg chg="modSld">
      <pc:chgData name="Rajendra Phalani Kumar" userId="389a6dc55115c720" providerId="LiveId" clId="{14305BFD-FE1A-444D-978C-E888FFF2BFC9}" dt="2026-08-30T11:45:29.565" v="1" actId="20577"/>
      <pc:docMkLst>
        <pc:docMk/>
      </pc:docMkLst>
      <pc:sldChg chg="modSp mod">
        <pc:chgData name="Rajendra Phalani Kumar" userId="389a6dc55115c720" providerId="LiveId" clId="{14305BFD-FE1A-444D-978C-E888FFF2BFC9}" dt="2026-08-30T11:45:29.565" v="1" actId="20577"/>
        <pc:sldMkLst>
          <pc:docMk/>
          <pc:sldMk cId="2247602601" sldId="262"/>
        </pc:sldMkLst>
        <pc:graphicFrameChg chg="modGraphic">
          <ac:chgData name="Rajendra Phalani Kumar" userId="389a6dc55115c720" providerId="LiveId" clId="{14305BFD-FE1A-444D-978C-E888FFF2BFC9}" dt="2026-08-30T11:45:29.565" v="1" actId="20577"/>
          <ac:graphicFrameMkLst>
            <pc:docMk/>
            <pc:sldMk cId="2247602601" sldId="262"/>
            <ac:graphicFrameMk id="30" creationId="{9091FADF-77DB-CB1D-CD72-56C53CF76308}"/>
          </ac:graphicFrameMkLst>
        </pc:graphicFrame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4B03022-1F30-4885-B78F-22C04F8A973E}" type="doc">
      <dgm:prSet loTypeId="urn:microsoft.com/office/officeart/2005/8/layout/venn3" loCatId="relationship" qsTypeId="urn:microsoft.com/office/officeart/2005/8/quickstyle/3d7#1" qsCatId="3D" csTypeId="urn:microsoft.com/office/officeart/2005/8/colors/colorful1#1" csCatId="colorful" phldr="1"/>
      <dgm:spPr/>
      <dgm:t>
        <a:bodyPr/>
        <a:lstStyle/>
        <a:p>
          <a:endParaRPr lang="en-IN"/>
        </a:p>
      </dgm:t>
    </dgm:pt>
    <dgm:pt modelId="{4094C340-BA43-4FE7-BEDC-37D235AAAD16}" type="pres">
      <dgm:prSet presAssocID="{84B03022-1F30-4885-B78F-22C04F8A973E}" presName="Name0" presStyleCnt="0">
        <dgm:presLayoutVars>
          <dgm:dir/>
          <dgm:resizeHandles val="exact"/>
        </dgm:presLayoutVars>
      </dgm:prSet>
      <dgm:spPr/>
    </dgm:pt>
  </dgm:ptLst>
  <dgm:cxnLst>
    <dgm:cxn modelId="{536B444D-E965-4C7A-901B-8D59695FE972}" type="presOf" srcId="{84B03022-1F30-4885-B78F-22C04F8A973E}" destId="{4094C340-BA43-4FE7-BEDC-37D235AAAD16}" srcOrd="0" destOrd="0" presId="urn:microsoft.com/office/officeart/2005/8/layout/venn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7#1">
  <dgm:title val=""/>
  <dgm:desc val=""/>
  <dgm:catLst>
    <dgm:cat type="3D" pri="11700"/>
  </dgm:catLst>
  <dgm:scene3d>
    <a:camera prst="perspectiveLeft" zoom="91000"/>
    <a:lightRig rig="threePt" dir="t">
      <a:rot lat="0" lon="0" rev="20640000"/>
    </a:lightRig>
  </dgm:scene3d>
  <dgm:styleLbl name="node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lnNod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vennNode1">
    <dgm:scene3d>
      <a:camera prst="orthographicFront"/>
      <a:lightRig rig="threePt" dir="t"/>
    </dgm:scene3d>
    <dgm:sp3d extrusionH="50600" prstMaterial="clear">
      <a:bevelT w="101600" h="80600" prst="relaxedInset"/>
      <a:bevelB w="80600" h="80600" prst="relaxedInset"/>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1">
    <dgm:scene3d>
      <a:camera prst="orthographicFront"/>
      <a:lightRig rig="threePt" dir="t"/>
    </dgm:scene3d>
    <dgm:sp3d extrusionH="50600" prstMaterial="metal">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fgImgPlace1">
    <dgm:scene3d>
      <a:camera prst="orthographicFront"/>
      <a:lightRig rig="threePt" dir="t"/>
    </dgm:scene3d>
    <dgm:sp3d z="572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alignImgPlac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dgm:style>
  </dgm:styleLbl>
  <dgm:styleLbl name="bgImgPlace1">
    <dgm:scene3d>
      <a:camera prst="orthographicFront"/>
      <a:lightRig rig="threePt" dir="t"/>
    </dgm:scene3d>
    <dgm:sp3d z="-2118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sibTrans2D1">
    <dgm:scene3d>
      <a:camera prst="orthographicFront"/>
      <a:lightRig rig="threePt" dir="t"/>
    </dgm:scene3d>
    <dgm:sp3d z="-110000">
      <a:bevelT w="40600" h="20600" prst="relaxedInset"/>
    </dgm:sp3d>
    <dgm:txPr/>
    <dgm:style>
      <a:lnRef idx="0">
        <a:scrgbClr r="0" g="0" b="0"/>
      </a:lnRef>
      <a:fillRef idx="1">
        <a:scrgbClr r="0" g="0" b="0"/>
      </a:fillRef>
      <a:effectRef idx="2">
        <a:scrgbClr r="0" g="0" b="0"/>
      </a:effectRef>
      <a:fontRef idx="minor"/>
    </dgm:style>
  </dgm:styleLbl>
  <dgm:styleLbl name="fgSibTrans2D1">
    <dgm:scene3d>
      <a:camera prst="orthographicFront"/>
      <a:lightRig rig="threePt" dir="t"/>
    </dgm:scene3d>
    <dgm:sp3d z="10600">
      <a:bevelT w="40600" h="20600" prst="relaxedInset"/>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z="-211800">
      <a:bevelT w="40600" h="20600" prst="relaxedInset"/>
    </dgm:sp3d>
    <dgm:txPr/>
    <dgm:style>
      <a:lnRef idx="0">
        <a:scrgbClr r="0" g="0" b="0"/>
      </a:lnRef>
      <a:fillRef idx="1">
        <a:scrgbClr r="0" g="0" b="0"/>
      </a:fillRef>
      <a:effectRef idx="2">
        <a:scrgbClr r="0" g="0" b="0"/>
      </a:effectRef>
      <a:fontRef idx="minor"/>
    </dgm:style>
  </dgm:styleLbl>
  <dgm:styleLbl name="sibTrans1D1">
    <dgm:scene3d>
      <a:camera prst="orthographicFront"/>
      <a:lightRig rig="threePt" dir="t"/>
    </dgm:scene3d>
    <dgm:sp3d z="-110000"/>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0000"/>
    <dgm:txPr/>
    <dgm:style>
      <a:lnRef idx="1">
        <a:scrgbClr r="0" g="0" b="0"/>
      </a:lnRef>
      <a:fillRef idx="1">
        <a:scrgbClr r="0" g="0" b="0"/>
      </a:fillRef>
      <a:effectRef idx="0">
        <a:scrgbClr r="0" g="0" b="0"/>
      </a:effectRef>
      <a:fontRef idx="minor"/>
    </dgm:style>
  </dgm:styleLbl>
  <dgm:styleLbl name="asst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parChTrans2D1">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2">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3">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2D4">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1D1">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50600">
      <a:bevelT w="101600" h="80600"/>
      <a:bevelB w="80600" h="80600"/>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50600">
      <a:bevelT w="101600" h="80600"/>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solidBgAcc1">
    <dgm:scene3d>
      <a:camera prst="orthographicFront"/>
      <a:lightRig rig="threePt" dir="t"/>
    </dgm:scene3d>
    <dgm:sp3d z="-161800" extrusionH="10600" contourW="3000">
      <a:bevelT w="48600" h="8600" prst="softRound"/>
      <a:bevelB w="48600" h="8600" prst="relaxedInset"/>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161800" extrusionH="10600" contourW="3000">
      <a:bevelT w="48600" h="8600" prst="relaxedInset"/>
      <a:bevelB w="48600" h="8600" prst="relaxedInset"/>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618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50600">
      <a:bevelT w="80600" h="80600" prst="relaxedInset"/>
      <a:bevelB w="80600" h="80600" prst="relaxedInset"/>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200" extrusionH="600" contourW="3000" prstMaterial="plastic">
      <a:bevelT w="80600" h="18600" prst="relaxedInset"/>
      <a:bevelB w="80600" h="8600" prst="relaxedInset"/>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A666E0-C270-4F2D-A5DC-96BE795B540E}" type="datetimeFigureOut">
              <a:rPr lang="en-US" smtClean="0"/>
              <a:t>8/30/2026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19044B-B5AF-477C-950C-4ED51263438D}" type="slidenum">
              <a:rPr lang="en-US" smtClean="0"/>
              <a:t>‹#›</a:t>
            </a:fld>
            <a:endParaRPr lang="en-US"/>
          </a:p>
        </p:txBody>
      </p:sp>
    </p:spTree>
    <p:extLst>
      <p:ext uri="{BB962C8B-B14F-4D97-AF65-F5344CB8AC3E}">
        <p14:creationId xmlns:p14="http://schemas.microsoft.com/office/powerpoint/2010/main" val="2208606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F84AE20-9EAE-4BB7-93AC-7EFA05BCA1CF}" type="slidenum">
              <a:rPr lang="en-IN" smtClean="0"/>
              <a:t>1</a:t>
            </a:fld>
            <a:endParaRPr lang="en-IN" dirty="0"/>
          </a:p>
        </p:txBody>
      </p:sp>
    </p:spTree>
    <p:extLst>
      <p:ext uri="{BB962C8B-B14F-4D97-AF65-F5344CB8AC3E}">
        <p14:creationId xmlns:p14="http://schemas.microsoft.com/office/powerpoint/2010/main" val="22274734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E162C7A-CC9D-4035-A213-68F795EB7A2A}" type="slidenum">
              <a:rPr lang="en-IN" smtClean="0"/>
              <a:t>6</a:t>
            </a:fld>
            <a:endParaRPr lang="en-IN"/>
          </a:p>
        </p:txBody>
      </p:sp>
    </p:spTree>
    <p:extLst>
      <p:ext uri="{BB962C8B-B14F-4D97-AF65-F5344CB8AC3E}">
        <p14:creationId xmlns:p14="http://schemas.microsoft.com/office/powerpoint/2010/main" val="16477035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2BE77-A6B4-BF9A-F59F-6A1C17E6D4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9F4D497-63DE-C270-40A4-331A37D0B0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7809C3A-1739-D230-186B-84454F605084}"/>
              </a:ext>
            </a:extLst>
          </p:cNvPr>
          <p:cNvSpPr>
            <a:spLocks noGrp="1"/>
          </p:cNvSpPr>
          <p:nvPr>
            <p:ph type="dt" sz="half" idx="10"/>
          </p:nvPr>
        </p:nvSpPr>
        <p:spPr/>
        <p:txBody>
          <a:bodyPr/>
          <a:lstStyle/>
          <a:p>
            <a:fld id="{E227863A-4956-4659-9192-3D74DA4F7578}" type="datetimeFigureOut">
              <a:rPr lang="en-US" smtClean="0"/>
              <a:t>8/30/2026</a:t>
            </a:fld>
            <a:endParaRPr lang="en-US"/>
          </a:p>
        </p:txBody>
      </p:sp>
      <p:sp>
        <p:nvSpPr>
          <p:cNvPr id="5" name="Footer Placeholder 4">
            <a:extLst>
              <a:ext uri="{FF2B5EF4-FFF2-40B4-BE49-F238E27FC236}">
                <a16:creationId xmlns:a16="http://schemas.microsoft.com/office/drawing/2014/main" id="{F5A63778-C058-1235-D3A3-7BCFF3CD01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9A1708-DD63-B8A6-CDE5-A057B2CF873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4086997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A0280-1254-E679-102E-D8CC13C8C6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784D78-2E62-1C74-D557-5115FDC295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B02B77-F303-2F09-80CB-35B74D2F58C9}"/>
              </a:ext>
            </a:extLst>
          </p:cNvPr>
          <p:cNvSpPr>
            <a:spLocks noGrp="1"/>
          </p:cNvSpPr>
          <p:nvPr>
            <p:ph type="dt" sz="half" idx="10"/>
          </p:nvPr>
        </p:nvSpPr>
        <p:spPr/>
        <p:txBody>
          <a:bodyPr/>
          <a:lstStyle/>
          <a:p>
            <a:fld id="{E227863A-4956-4659-9192-3D74DA4F7578}" type="datetimeFigureOut">
              <a:rPr lang="en-US" smtClean="0"/>
              <a:t>8/30/2026</a:t>
            </a:fld>
            <a:endParaRPr lang="en-US"/>
          </a:p>
        </p:txBody>
      </p:sp>
      <p:sp>
        <p:nvSpPr>
          <p:cNvPr id="5" name="Footer Placeholder 4">
            <a:extLst>
              <a:ext uri="{FF2B5EF4-FFF2-40B4-BE49-F238E27FC236}">
                <a16:creationId xmlns:a16="http://schemas.microsoft.com/office/drawing/2014/main" id="{A13359BF-B012-085F-389A-331E721BC9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1B0460-9CE8-D43D-79E7-A7A9144A3AD0}"/>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630162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87D46-3DEF-526E-5F46-4ADACBEC0A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55A517A-D5B3-3AF2-38BE-1D89988138B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602125-0289-3272-156D-A3C31E848252}"/>
              </a:ext>
            </a:extLst>
          </p:cNvPr>
          <p:cNvSpPr>
            <a:spLocks noGrp="1"/>
          </p:cNvSpPr>
          <p:nvPr>
            <p:ph type="dt" sz="half" idx="10"/>
          </p:nvPr>
        </p:nvSpPr>
        <p:spPr/>
        <p:txBody>
          <a:bodyPr/>
          <a:lstStyle/>
          <a:p>
            <a:fld id="{E227863A-4956-4659-9192-3D74DA4F7578}" type="datetimeFigureOut">
              <a:rPr lang="en-US" smtClean="0"/>
              <a:t>8/30/2026</a:t>
            </a:fld>
            <a:endParaRPr lang="en-US"/>
          </a:p>
        </p:txBody>
      </p:sp>
      <p:sp>
        <p:nvSpPr>
          <p:cNvPr id="5" name="Footer Placeholder 4">
            <a:extLst>
              <a:ext uri="{FF2B5EF4-FFF2-40B4-BE49-F238E27FC236}">
                <a16:creationId xmlns:a16="http://schemas.microsoft.com/office/drawing/2014/main" id="{659971A6-CC5A-CC09-A1F2-E284284E87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9898D5-FC90-9DA1-FE2F-D07DEDDAD616}"/>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039952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89433-0D52-95EF-D78E-4FC912D4FC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1A2DAE-6EF3-6910-5373-1A5DF40909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91AE70-38B9-B797-DE71-57CAE4C82D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25E50E-F402-07A4-460F-3431CA999232}"/>
              </a:ext>
            </a:extLst>
          </p:cNvPr>
          <p:cNvSpPr>
            <a:spLocks noGrp="1"/>
          </p:cNvSpPr>
          <p:nvPr>
            <p:ph type="dt" sz="half" idx="10"/>
          </p:nvPr>
        </p:nvSpPr>
        <p:spPr/>
        <p:txBody>
          <a:bodyPr/>
          <a:lstStyle/>
          <a:p>
            <a:fld id="{E227863A-4956-4659-9192-3D74DA4F7578}" type="datetimeFigureOut">
              <a:rPr lang="en-US" smtClean="0"/>
              <a:t>8/30/2026</a:t>
            </a:fld>
            <a:endParaRPr lang="en-US"/>
          </a:p>
        </p:txBody>
      </p:sp>
      <p:sp>
        <p:nvSpPr>
          <p:cNvPr id="6" name="Footer Placeholder 5">
            <a:extLst>
              <a:ext uri="{FF2B5EF4-FFF2-40B4-BE49-F238E27FC236}">
                <a16:creationId xmlns:a16="http://schemas.microsoft.com/office/drawing/2014/main" id="{664D7A32-7B4B-0167-CBD3-4FB4F42F73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EB928D-DF00-B9C5-1A36-1E52C14CBBB7}"/>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467198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CFE06-EEED-5CC3-A38A-576DD2C8AF0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DB0BA8C-9EDE-BB49-BD35-49BAFCB8D3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E1DDD39-7D2C-4493-F56F-81F6BC3F98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714469B-6213-D34D-07A9-FCDC82AC0F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6440F3-3F2D-85CC-D2E2-6D0D54B8A2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D346DE1-9818-60AF-EAF8-FFED39BA5E89}"/>
              </a:ext>
            </a:extLst>
          </p:cNvPr>
          <p:cNvSpPr>
            <a:spLocks noGrp="1"/>
          </p:cNvSpPr>
          <p:nvPr>
            <p:ph type="dt" sz="half" idx="10"/>
          </p:nvPr>
        </p:nvSpPr>
        <p:spPr/>
        <p:txBody>
          <a:bodyPr/>
          <a:lstStyle/>
          <a:p>
            <a:fld id="{E227863A-4956-4659-9192-3D74DA4F7578}" type="datetimeFigureOut">
              <a:rPr lang="en-US" smtClean="0"/>
              <a:t>8/30/2026</a:t>
            </a:fld>
            <a:endParaRPr lang="en-US"/>
          </a:p>
        </p:txBody>
      </p:sp>
      <p:sp>
        <p:nvSpPr>
          <p:cNvPr id="8" name="Footer Placeholder 7">
            <a:extLst>
              <a:ext uri="{FF2B5EF4-FFF2-40B4-BE49-F238E27FC236}">
                <a16:creationId xmlns:a16="http://schemas.microsoft.com/office/drawing/2014/main" id="{265E9E00-6460-F360-EDFD-B03FBA2C63B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ABFFDD7-5BFE-EA3B-6250-A381A569564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362514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CE0FC-511C-2C2C-E510-CDDF263418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C796671-3C71-777F-3A4D-A89D7E5D68FA}"/>
              </a:ext>
            </a:extLst>
          </p:cNvPr>
          <p:cNvSpPr>
            <a:spLocks noGrp="1"/>
          </p:cNvSpPr>
          <p:nvPr>
            <p:ph type="dt" sz="half" idx="10"/>
          </p:nvPr>
        </p:nvSpPr>
        <p:spPr/>
        <p:txBody>
          <a:bodyPr/>
          <a:lstStyle/>
          <a:p>
            <a:fld id="{E227863A-4956-4659-9192-3D74DA4F7578}" type="datetimeFigureOut">
              <a:rPr lang="en-US" smtClean="0"/>
              <a:t>8/30/2026</a:t>
            </a:fld>
            <a:endParaRPr lang="en-US"/>
          </a:p>
        </p:txBody>
      </p:sp>
      <p:sp>
        <p:nvSpPr>
          <p:cNvPr id="4" name="Footer Placeholder 3">
            <a:extLst>
              <a:ext uri="{FF2B5EF4-FFF2-40B4-BE49-F238E27FC236}">
                <a16:creationId xmlns:a16="http://schemas.microsoft.com/office/drawing/2014/main" id="{30024A6A-95A8-2753-339B-FC09D4CAEB8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59E07AF-B1A0-E180-D5AC-3F2F0031C98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182466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8527A8-9BA5-6E6B-9B96-E6F6FADC46A2}"/>
              </a:ext>
            </a:extLst>
          </p:cNvPr>
          <p:cNvSpPr>
            <a:spLocks noGrp="1"/>
          </p:cNvSpPr>
          <p:nvPr>
            <p:ph type="dt" sz="half" idx="10"/>
          </p:nvPr>
        </p:nvSpPr>
        <p:spPr/>
        <p:txBody>
          <a:bodyPr/>
          <a:lstStyle/>
          <a:p>
            <a:fld id="{E227863A-4956-4659-9192-3D74DA4F7578}" type="datetimeFigureOut">
              <a:rPr lang="en-US" smtClean="0"/>
              <a:t>8/30/2026</a:t>
            </a:fld>
            <a:endParaRPr lang="en-US"/>
          </a:p>
        </p:txBody>
      </p:sp>
      <p:sp>
        <p:nvSpPr>
          <p:cNvPr id="3" name="Footer Placeholder 2">
            <a:extLst>
              <a:ext uri="{FF2B5EF4-FFF2-40B4-BE49-F238E27FC236}">
                <a16:creationId xmlns:a16="http://schemas.microsoft.com/office/drawing/2014/main" id="{4EAB8C98-6C07-7CF9-228C-EF7E6514747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2347070-DD15-038E-31F6-EF9EAD920E5F}"/>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48321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28049-15BD-A06B-510D-51342C765D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B77F51D-EFF8-F91B-8F7D-613493BF84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443686E-4EC3-3B25-F2B1-DEF00AA476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24C9A3-A390-80A1-50AD-21AB6B252580}"/>
              </a:ext>
            </a:extLst>
          </p:cNvPr>
          <p:cNvSpPr>
            <a:spLocks noGrp="1"/>
          </p:cNvSpPr>
          <p:nvPr>
            <p:ph type="dt" sz="half" idx="10"/>
          </p:nvPr>
        </p:nvSpPr>
        <p:spPr/>
        <p:txBody>
          <a:bodyPr/>
          <a:lstStyle/>
          <a:p>
            <a:fld id="{E227863A-4956-4659-9192-3D74DA4F7578}" type="datetimeFigureOut">
              <a:rPr lang="en-US" smtClean="0"/>
              <a:t>8/30/2026</a:t>
            </a:fld>
            <a:endParaRPr lang="en-US"/>
          </a:p>
        </p:txBody>
      </p:sp>
      <p:sp>
        <p:nvSpPr>
          <p:cNvPr id="6" name="Footer Placeholder 5">
            <a:extLst>
              <a:ext uri="{FF2B5EF4-FFF2-40B4-BE49-F238E27FC236}">
                <a16:creationId xmlns:a16="http://schemas.microsoft.com/office/drawing/2014/main" id="{E83FB16C-3A67-2F8D-2205-B1FF3BE2C6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137A69-0E62-6668-A184-42A6DBF6B07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0894807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AFB01-3CD4-CFD9-5A71-411262FAAC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9DCEFF8-AB3F-42A6-ADAF-1080336CCB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3914F7C-5D5A-7C5D-50F2-B5067E1E61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E767C3-2493-217A-8E1D-03F6BBB4ACBD}"/>
              </a:ext>
            </a:extLst>
          </p:cNvPr>
          <p:cNvSpPr>
            <a:spLocks noGrp="1"/>
          </p:cNvSpPr>
          <p:nvPr>
            <p:ph type="dt" sz="half" idx="10"/>
          </p:nvPr>
        </p:nvSpPr>
        <p:spPr/>
        <p:txBody>
          <a:bodyPr/>
          <a:lstStyle/>
          <a:p>
            <a:fld id="{E227863A-4956-4659-9192-3D74DA4F7578}" type="datetimeFigureOut">
              <a:rPr lang="en-US" smtClean="0"/>
              <a:t>8/30/2026</a:t>
            </a:fld>
            <a:endParaRPr lang="en-US"/>
          </a:p>
        </p:txBody>
      </p:sp>
      <p:sp>
        <p:nvSpPr>
          <p:cNvPr id="6" name="Footer Placeholder 5">
            <a:extLst>
              <a:ext uri="{FF2B5EF4-FFF2-40B4-BE49-F238E27FC236}">
                <a16:creationId xmlns:a16="http://schemas.microsoft.com/office/drawing/2014/main" id="{348FEBF7-64BD-7F85-1240-C02E3705BD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064DB1-56E3-B1C9-BED9-904A25C29434}"/>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2129736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BCD61-B1C9-A34D-6022-ADB9D4B22C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124F7E8-10E7-E6C8-474D-2A06ED5015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E7D405-5D32-C40F-1430-5F5A97DD4FAF}"/>
              </a:ext>
            </a:extLst>
          </p:cNvPr>
          <p:cNvSpPr>
            <a:spLocks noGrp="1"/>
          </p:cNvSpPr>
          <p:nvPr>
            <p:ph type="dt" sz="half" idx="10"/>
          </p:nvPr>
        </p:nvSpPr>
        <p:spPr/>
        <p:txBody>
          <a:bodyPr/>
          <a:lstStyle/>
          <a:p>
            <a:fld id="{E227863A-4956-4659-9192-3D74DA4F7578}" type="datetimeFigureOut">
              <a:rPr lang="en-US" smtClean="0"/>
              <a:t>8/30/2026</a:t>
            </a:fld>
            <a:endParaRPr lang="en-US"/>
          </a:p>
        </p:txBody>
      </p:sp>
      <p:sp>
        <p:nvSpPr>
          <p:cNvPr id="5" name="Footer Placeholder 4">
            <a:extLst>
              <a:ext uri="{FF2B5EF4-FFF2-40B4-BE49-F238E27FC236}">
                <a16:creationId xmlns:a16="http://schemas.microsoft.com/office/drawing/2014/main" id="{7BD9955A-6D2E-8ABB-AF09-EC9590F01F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9E1B21-A5D1-C625-FE7B-A0232576A69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917886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699036-2042-AC93-5117-4059611F3CE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22DD23D-712F-710C-F8D8-B4B2B3E059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095516-E45F-6DA1-08EA-04E781DF5CCB}"/>
              </a:ext>
            </a:extLst>
          </p:cNvPr>
          <p:cNvSpPr>
            <a:spLocks noGrp="1"/>
          </p:cNvSpPr>
          <p:nvPr>
            <p:ph type="dt" sz="half" idx="10"/>
          </p:nvPr>
        </p:nvSpPr>
        <p:spPr/>
        <p:txBody>
          <a:bodyPr/>
          <a:lstStyle/>
          <a:p>
            <a:fld id="{E227863A-4956-4659-9192-3D74DA4F7578}" type="datetimeFigureOut">
              <a:rPr lang="en-US" smtClean="0"/>
              <a:t>8/30/2026</a:t>
            </a:fld>
            <a:endParaRPr lang="en-US"/>
          </a:p>
        </p:txBody>
      </p:sp>
      <p:sp>
        <p:nvSpPr>
          <p:cNvPr id="5" name="Footer Placeholder 4">
            <a:extLst>
              <a:ext uri="{FF2B5EF4-FFF2-40B4-BE49-F238E27FC236}">
                <a16:creationId xmlns:a16="http://schemas.microsoft.com/office/drawing/2014/main" id="{8B171DB9-D5C7-9EFA-0532-06B0BAAF41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735D92-5A89-BE34-CC33-93F56B3EDB49}"/>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387349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1F6EA6A-8FF5-49DF-BDDD-F7431B447D8F}" type="datetime3">
              <a:rPr lang="en-US" smtClean="0"/>
              <a:t>30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0808602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411EB6-9770-43AB-BBCE-044F1DB66B82}" type="datetime3">
              <a:rPr lang="en-US" smtClean="0"/>
              <a:t>30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3482983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C905DC-9CDD-41AE-979C-F366BC0443ED}" type="datetime3">
              <a:rPr lang="en-US" smtClean="0"/>
              <a:t>30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7399230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84FAC05-A025-4B8A-AB88-2AE8812F8A48}" type="datetime3">
              <a:rPr lang="en-US" smtClean="0"/>
              <a:t>30 August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719083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87906D5-6813-455D-BAA0-28A983958C32}" type="datetime3">
              <a:rPr lang="en-US" smtClean="0"/>
              <a:t>30 August 2026</a:t>
            </a:fld>
            <a:endParaRPr lang="en-IN"/>
          </a:p>
        </p:txBody>
      </p:sp>
      <p:sp>
        <p:nvSpPr>
          <p:cNvPr id="8" name="Footer Placeholder 7"/>
          <p:cNvSpPr>
            <a:spLocks noGrp="1"/>
          </p:cNvSpPr>
          <p:nvPr>
            <p:ph type="ftr" sz="quarter" idx="11"/>
          </p:nvPr>
        </p:nvSpPr>
        <p:spPr/>
        <p:txBody>
          <a:bodyPr/>
          <a:lstStyle/>
          <a:p>
            <a:r>
              <a:rPr lang="en-IN"/>
              <a:t>Ph.D. Viva Voce</a:t>
            </a:r>
          </a:p>
        </p:txBody>
      </p:sp>
      <p:sp>
        <p:nvSpPr>
          <p:cNvPr id="9" name="Slide Number Placeholder 8"/>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5784857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F4309C4-DF5F-4FAA-9214-A2117415D598}" type="datetime3">
              <a:rPr lang="en-US" smtClean="0"/>
              <a:t>30 August 2026</a:t>
            </a:fld>
            <a:endParaRPr lang="en-IN"/>
          </a:p>
        </p:txBody>
      </p:sp>
      <p:sp>
        <p:nvSpPr>
          <p:cNvPr id="4" name="Footer Placeholder 3"/>
          <p:cNvSpPr>
            <a:spLocks noGrp="1"/>
          </p:cNvSpPr>
          <p:nvPr>
            <p:ph type="ftr" sz="quarter" idx="11"/>
          </p:nvPr>
        </p:nvSpPr>
        <p:spPr/>
        <p:txBody>
          <a:bodyPr/>
          <a:lstStyle/>
          <a:p>
            <a:r>
              <a:rPr lang="en-IN"/>
              <a:t>Ph.D. Viva Voce</a:t>
            </a:r>
          </a:p>
        </p:txBody>
      </p:sp>
      <p:sp>
        <p:nvSpPr>
          <p:cNvPr id="5" name="Slide Number Placeholder 4"/>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7338849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4683E30-D762-4164-BBF9-9799116ED611}" type="datetime3">
              <a:rPr lang="en-US" smtClean="0"/>
              <a:t>30 August 2026</a:t>
            </a:fld>
            <a:endParaRPr lang="en-IN"/>
          </a:p>
        </p:txBody>
      </p:sp>
      <p:sp>
        <p:nvSpPr>
          <p:cNvPr id="3" name="Footer Placeholder 2"/>
          <p:cNvSpPr>
            <a:spLocks noGrp="1"/>
          </p:cNvSpPr>
          <p:nvPr>
            <p:ph type="ftr" sz="quarter" idx="11"/>
          </p:nvPr>
        </p:nvSpPr>
        <p:spPr/>
        <p:txBody>
          <a:bodyPr/>
          <a:lstStyle/>
          <a:p>
            <a:r>
              <a:rPr lang="en-IN"/>
              <a:t>Ph.D. Viva Voce</a:t>
            </a:r>
          </a:p>
        </p:txBody>
      </p:sp>
      <p:sp>
        <p:nvSpPr>
          <p:cNvPr id="4" name="Slide Number Placeholder 3"/>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6718867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EEB4AA-F6FE-4EF1-9FE6-D5606E858D35}" type="datetime3">
              <a:rPr lang="en-US" smtClean="0"/>
              <a:t>30 August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474917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7B547F9-D0DE-4919-BAA4-23065C38E70B}" type="datetime3">
              <a:rPr lang="en-US" smtClean="0"/>
              <a:t>30 August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0463319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0D9772-7494-4C65-A0D8-1FBD740B2E65}" type="datetime3">
              <a:rPr lang="en-US" smtClean="0"/>
              <a:t>30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3075840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BB089DC-0019-49C7-8AD2-EF5D896393D8}" type="datetime3">
              <a:rPr lang="en-US" smtClean="0"/>
              <a:t>30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2045954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711898-360B-AD49-DD62-FA3B7B6626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1A2BE89-A274-4461-2B81-5058744631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4B2A70-C1DC-D783-67E1-97822E79A5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27863A-4956-4659-9192-3D74DA4F7578}" type="datetimeFigureOut">
              <a:rPr lang="en-US" smtClean="0"/>
              <a:t>8/30/2026</a:t>
            </a:fld>
            <a:endParaRPr lang="en-US"/>
          </a:p>
        </p:txBody>
      </p:sp>
      <p:sp>
        <p:nvSpPr>
          <p:cNvPr id="5" name="Footer Placeholder 4">
            <a:extLst>
              <a:ext uri="{FF2B5EF4-FFF2-40B4-BE49-F238E27FC236}">
                <a16:creationId xmlns:a16="http://schemas.microsoft.com/office/drawing/2014/main" id="{08C5D01A-229C-E067-7B4E-BC254D6544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0741767-E51C-1DAB-E3C8-F047E87A83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639234F-78F1-4984-9C4D-D4C7AB587871}" type="slidenum">
              <a:rPr lang="en-US" smtClean="0"/>
              <a:t>‹#›</a:t>
            </a:fld>
            <a:endParaRPr lang="en-US"/>
          </a:p>
        </p:txBody>
      </p:sp>
    </p:spTree>
    <p:extLst>
      <p:ext uri="{BB962C8B-B14F-4D97-AF65-F5344CB8AC3E}">
        <p14:creationId xmlns:p14="http://schemas.microsoft.com/office/powerpoint/2010/main" val="16456373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16266A-CA82-4709-A4C2-B8B2AD8F4816}" type="datetime3">
              <a:rPr lang="en-US" smtClean="0"/>
              <a:t>30 August 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Ph.D. Viva Voce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AD1135-6E10-4422-AC8B-257B84239C9C}" type="slidenum">
              <a:rPr lang="en-IN" smtClean="0"/>
              <a:t>‹#›</a:t>
            </a:fld>
            <a:endParaRPr lang="en-IN"/>
          </a:p>
        </p:txBody>
      </p:sp>
    </p:spTree>
    <p:extLst>
      <p:ext uri="{BB962C8B-B14F-4D97-AF65-F5344CB8AC3E}">
        <p14:creationId xmlns:p14="http://schemas.microsoft.com/office/powerpoint/2010/main" val="29137664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hyperlink" Target="https://svgsilh.com/03a9f4/image/98809.html" TargetMode="External"/><Relationship Id="rId7" Type="http://schemas.openxmlformats.org/officeDocument/2006/relationships/diagramColors" Target="../diagrams/colors1.xml"/><Relationship Id="rId2" Type="http://schemas.openxmlformats.org/officeDocument/2006/relationships/image" Target="../media/image2.svg"/><Relationship Id="rId1" Type="http://schemas.openxmlformats.org/officeDocument/2006/relationships/slideLayout" Target="../slideLayouts/slideLayout18.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500C0830-A1CA-96AE-68D2-18C57ABE4802}"/>
              </a:ext>
            </a:extLst>
          </p:cNvPr>
          <p:cNvSpPr txBox="1"/>
          <p:nvPr/>
        </p:nvSpPr>
        <p:spPr>
          <a:xfrm>
            <a:off x="2980984" y="3004499"/>
            <a:ext cx="6230031" cy="492443"/>
          </a:xfrm>
          <a:prstGeom prst="rect">
            <a:avLst/>
          </a:prstGeom>
          <a:noFill/>
          <a:effectLst>
            <a:glow rad="139700">
              <a:schemeClr val="accent2">
                <a:satMod val="175000"/>
                <a:alpha val="40000"/>
              </a:schemeClr>
            </a:glow>
          </a:effectLst>
        </p:spPr>
        <p:txBody>
          <a:bodyPr wrap="square">
            <a:spAutoFit/>
          </a:bodyPr>
          <a:lstStyle/>
          <a:p>
            <a:pPr algn="ctr"/>
            <a:endParaRPr lang="en-IN" sz="600" dirty="0">
              <a:latin typeface="Times New Roman" panose="02020603050405020304" pitchFamily="18" charset="0"/>
              <a:cs typeface="Times New Roman" panose="02020603050405020304" pitchFamily="18" charset="0"/>
            </a:endParaRPr>
          </a:p>
          <a:p>
            <a:pPr algn="ctr"/>
            <a:r>
              <a:rPr lang="en-IN" sz="2000" b="1" dirty="0">
                <a:solidFill>
                  <a:srgbClr val="FF0000"/>
                </a:solidFill>
                <a:latin typeface="Times New Roman" panose="02020603050405020304" pitchFamily="18" charset="0"/>
                <a:cs typeface="Times New Roman" panose="02020603050405020304" pitchFamily="18" charset="0"/>
              </a:rPr>
              <a:t>Date&amp; Time</a:t>
            </a:r>
          </a:p>
        </p:txBody>
      </p:sp>
      <p:graphicFrame>
        <p:nvGraphicFramePr>
          <p:cNvPr id="18" name="Table 17">
            <a:extLst>
              <a:ext uri="{FF2B5EF4-FFF2-40B4-BE49-F238E27FC236}">
                <a16:creationId xmlns:a16="http://schemas.microsoft.com/office/drawing/2014/main" id="{BD22BC4D-4857-7D81-7819-37B7BB426420}"/>
              </a:ext>
            </a:extLst>
          </p:cNvPr>
          <p:cNvGraphicFramePr>
            <a:graphicFrameLocks noGrp="1"/>
          </p:cNvGraphicFramePr>
          <p:nvPr>
            <p:extLst>
              <p:ext uri="{D42A27DB-BD31-4B8C-83A1-F6EECF244321}">
                <p14:modId xmlns:p14="http://schemas.microsoft.com/office/powerpoint/2010/main" val="1573350496"/>
              </p:ext>
            </p:extLst>
          </p:nvPr>
        </p:nvGraphicFramePr>
        <p:xfrm>
          <a:off x="8193271" y="4898509"/>
          <a:ext cx="3702050" cy="1819168"/>
        </p:xfrm>
        <a:graphic>
          <a:graphicData uri="http://schemas.openxmlformats.org/drawingml/2006/table">
            <a:tbl>
              <a:tblPr firstRow="1" bandRow="1">
                <a:tableStyleId>{5940675A-B579-460E-94D1-54222C63F5DA}</a:tableStyleId>
              </a:tblPr>
              <a:tblGrid>
                <a:gridCol w="3702050">
                  <a:extLst>
                    <a:ext uri="{9D8B030D-6E8A-4147-A177-3AD203B41FA5}">
                      <a16:colId xmlns:a16="http://schemas.microsoft.com/office/drawing/2014/main" val="40058472"/>
                    </a:ext>
                  </a:extLst>
                </a:gridCol>
              </a:tblGrid>
              <a:tr h="7523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dirty="0">
                          <a:solidFill>
                            <a:srgbClr val="C00000"/>
                          </a:solidFill>
                          <a:latin typeface="Times New Roman" panose="02020603050405020304" pitchFamily="18" charset="0"/>
                          <a:cs typeface="Times New Roman" panose="02020603050405020304" pitchFamily="18" charset="0"/>
                        </a:rPr>
                        <a:t>Team Members</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dirty="0" err="1">
                          <a:solidFill>
                            <a:schemeClr val="tx1"/>
                          </a:solidFill>
                          <a:latin typeface="Times New Roman" panose="02020603050405020304" pitchFamily="18" charset="0"/>
                          <a:cs typeface="Times New Roman" panose="02020603050405020304" pitchFamily="18" charset="0"/>
                        </a:rPr>
                        <a:t>P.Rajendra</a:t>
                      </a:r>
                      <a:r>
                        <a:rPr lang="en-IN" sz="1600" b="1" dirty="0">
                          <a:solidFill>
                            <a:schemeClr val="tx1"/>
                          </a:solidFill>
                          <a:latin typeface="Times New Roman" panose="02020603050405020304" pitchFamily="18" charset="0"/>
                          <a:cs typeface="Times New Roman" panose="02020603050405020304" pitchFamily="18" charset="0"/>
                        </a:rPr>
                        <a:t> – 2420030609</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dirty="0" err="1">
                          <a:solidFill>
                            <a:schemeClr val="tx1"/>
                          </a:solidFill>
                          <a:latin typeface="Times New Roman" panose="02020603050405020304" pitchFamily="18" charset="0"/>
                          <a:cs typeface="Times New Roman" panose="02020603050405020304" pitchFamily="18" charset="0"/>
                        </a:rPr>
                        <a:t>D.Mallikarjun</a:t>
                      </a:r>
                      <a:r>
                        <a:rPr lang="en-IN" sz="1600" b="1" dirty="0">
                          <a:solidFill>
                            <a:schemeClr val="tx1"/>
                          </a:solidFill>
                          <a:latin typeface="Times New Roman" panose="02020603050405020304" pitchFamily="18" charset="0"/>
                          <a:cs typeface="Times New Roman" panose="02020603050405020304" pitchFamily="18" charset="0"/>
                        </a:rPr>
                        <a:t> – 2420030615</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dirty="0" err="1">
                          <a:solidFill>
                            <a:schemeClr val="tx1"/>
                          </a:solidFill>
                          <a:latin typeface="Times New Roman" panose="02020603050405020304" pitchFamily="18" charset="0"/>
                          <a:cs typeface="Times New Roman" panose="02020603050405020304" pitchFamily="18" charset="0"/>
                        </a:rPr>
                        <a:t>D.Praveen</a:t>
                      </a:r>
                      <a:r>
                        <a:rPr lang="en-IN" sz="1600" b="1" dirty="0">
                          <a:solidFill>
                            <a:schemeClr val="tx1"/>
                          </a:solidFill>
                          <a:latin typeface="Times New Roman" panose="02020603050405020304" pitchFamily="18" charset="0"/>
                          <a:cs typeface="Times New Roman" panose="02020603050405020304" pitchFamily="18" charset="0"/>
                        </a:rPr>
                        <a:t> - 2420030370 </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r h="7523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sz="1600" b="1" dirty="0">
                        <a:solidFill>
                          <a:srgbClr val="C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0306782"/>
                  </a:ext>
                </a:extLst>
              </a:tr>
            </a:tbl>
          </a:graphicData>
        </a:graphic>
      </p:graphicFrame>
      <p:grpSp>
        <p:nvGrpSpPr>
          <p:cNvPr id="21" name="Group 20">
            <a:extLst>
              <a:ext uri="{FF2B5EF4-FFF2-40B4-BE49-F238E27FC236}">
                <a16:creationId xmlns:a16="http://schemas.microsoft.com/office/drawing/2014/main" id="{B5A8CA37-C090-A9D8-75D0-A7A7D5DEBE24}"/>
              </a:ext>
            </a:extLst>
          </p:cNvPr>
          <p:cNvGrpSpPr/>
          <p:nvPr/>
        </p:nvGrpSpPr>
        <p:grpSpPr>
          <a:xfrm>
            <a:off x="8038280" y="4765558"/>
            <a:ext cx="230240" cy="232995"/>
            <a:chOff x="1567861" y="1613059"/>
            <a:chExt cx="230240" cy="232995"/>
          </a:xfrm>
          <a:solidFill>
            <a:srgbClr val="FF66FF"/>
          </a:solidFill>
        </p:grpSpPr>
        <p:sp>
          <p:nvSpPr>
            <p:cNvPr id="22" name="Isosceles Triangle 21">
              <a:extLst>
                <a:ext uri="{FF2B5EF4-FFF2-40B4-BE49-F238E27FC236}">
                  <a16:creationId xmlns:a16="http://schemas.microsoft.com/office/drawing/2014/main" id="{E48399A6-AAB5-B502-9670-34E0FCDF5541}"/>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23" name="Isosceles Triangle 22">
              <a:extLst>
                <a:ext uri="{FF2B5EF4-FFF2-40B4-BE49-F238E27FC236}">
                  <a16:creationId xmlns:a16="http://schemas.microsoft.com/office/drawing/2014/main" id="{67E59050-351C-0873-0298-AB77EA522C22}"/>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aphicFrame>
        <p:nvGraphicFramePr>
          <p:cNvPr id="30" name="Table 29">
            <a:extLst>
              <a:ext uri="{FF2B5EF4-FFF2-40B4-BE49-F238E27FC236}">
                <a16:creationId xmlns:a16="http://schemas.microsoft.com/office/drawing/2014/main" id="{9091FADF-77DB-CB1D-CD72-56C53CF76308}"/>
              </a:ext>
            </a:extLst>
          </p:cNvPr>
          <p:cNvGraphicFramePr>
            <a:graphicFrameLocks noGrp="1"/>
          </p:cNvGraphicFramePr>
          <p:nvPr>
            <p:extLst>
              <p:ext uri="{D42A27DB-BD31-4B8C-83A1-F6EECF244321}">
                <p14:modId xmlns:p14="http://schemas.microsoft.com/office/powerpoint/2010/main" val="497373910"/>
              </p:ext>
            </p:extLst>
          </p:nvPr>
        </p:nvGraphicFramePr>
        <p:xfrm>
          <a:off x="-795813" y="4774125"/>
          <a:ext cx="5902325" cy="1427480"/>
        </p:xfrm>
        <a:graphic>
          <a:graphicData uri="http://schemas.openxmlformats.org/drawingml/2006/table">
            <a:tbl>
              <a:tblPr firstRow="1" bandRow="1">
                <a:tableStyleId>{5940675A-B579-460E-94D1-54222C63F5DA}</a:tableStyleId>
              </a:tblPr>
              <a:tblGrid>
                <a:gridCol w="1373565">
                  <a:extLst>
                    <a:ext uri="{9D8B030D-6E8A-4147-A177-3AD203B41FA5}">
                      <a16:colId xmlns:a16="http://schemas.microsoft.com/office/drawing/2014/main" val="40058472"/>
                    </a:ext>
                  </a:extLst>
                </a:gridCol>
                <a:gridCol w="4528760">
                  <a:extLst>
                    <a:ext uri="{9D8B030D-6E8A-4147-A177-3AD203B41FA5}">
                      <a16:colId xmlns:a16="http://schemas.microsoft.com/office/drawing/2014/main" val="1330242319"/>
                    </a:ext>
                  </a:extLst>
                </a:gridCol>
              </a:tblGrid>
              <a:tr h="1332118">
                <a:tc>
                  <a:txBody>
                    <a:bodyPr/>
                    <a:lstStyle/>
                    <a:p>
                      <a:endParaRPr lang="en-IN"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IN" sz="500" b="1" dirty="0">
                        <a:solidFill>
                          <a:srgbClr val="C00000"/>
                        </a:solidFill>
                        <a:latin typeface="Times New Roman" panose="02020603050405020304" pitchFamily="18" charset="0"/>
                        <a:cs typeface="Times New Roman" panose="02020603050405020304" pitchFamily="18" charset="0"/>
                      </a:endParaRPr>
                    </a:p>
                    <a:p>
                      <a:r>
                        <a:rPr lang="en-IN" sz="1600" b="1" dirty="0">
                          <a:solidFill>
                            <a:srgbClr val="C00000"/>
                          </a:solidFill>
                          <a:latin typeface="Times New Roman" panose="02020603050405020304" pitchFamily="18" charset="0"/>
                          <a:cs typeface="Times New Roman" panose="02020603050405020304" pitchFamily="18" charset="0"/>
                        </a:rPr>
                        <a:t>Under the Guidance of</a:t>
                      </a:r>
                    </a:p>
                    <a:p>
                      <a:pPr marL="0" indent="0" algn="l">
                        <a:lnSpc>
                          <a:spcPct val="100000"/>
                        </a:lnSpc>
                        <a:spcBef>
                          <a:spcPts val="200"/>
                        </a:spcBef>
                        <a:buSzPts val="810"/>
                        <a:buNone/>
                      </a:pP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Dr.</a:t>
                      </a:r>
                      <a:r>
                        <a:rPr lang="en-IN" sz="1800" b="1" kern="1200" dirty="0">
                          <a:solidFill>
                            <a:schemeClr val="tx1"/>
                          </a:solidFill>
                          <a:effectLst/>
                          <a:latin typeface="+mn-lt"/>
                          <a:ea typeface="+mn-ea"/>
                          <a:cs typeface="+mn-cs"/>
                        </a:rPr>
                        <a:t> </a:t>
                      </a:r>
                      <a:r>
                        <a:rPr lang="en-IN" sz="1400" b="1" kern="1200">
                          <a:solidFill>
                            <a:schemeClr val="tx1"/>
                          </a:solidFill>
                          <a:effectLst/>
                          <a:latin typeface="+mn-lt"/>
                          <a:ea typeface="+mn-ea"/>
                          <a:cs typeface="+mn-cs"/>
                        </a:rPr>
                        <a:t>Neelima</a:t>
                      </a:r>
                      <a:r>
                        <a:rPr lang="en-IN" sz="1800" b="1" kern="1200">
                          <a:solidFill>
                            <a:schemeClr val="tx1"/>
                          </a:solidFill>
                          <a:effectLst/>
                          <a:latin typeface="+mn-lt"/>
                          <a:ea typeface="+mn-ea"/>
                          <a:cs typeface="+mn-cs"/>
                        </a:rPr>
                        <a:t> Gogineni </a:t>
                      </a:r>
                      <a:endParaRPr lang="en-US" sz="1400" b="1" dirty="0">
                        <a:solidFill>
                          <a:schemeClr val="dk1"/>
                        </a:solidFill>
                        <a:latin typeface="Times New Roman" panose="02020603050405020304" pitchFamily="18" charset="0"/>
                        <a:ea typeface="Cambria"/>
                        <a:cs typeface="Times New Roman" panose="02020603050405020304" pitchFamily="18" charset="0"/>
                        <a:sym typeface="Cambria"/>
                      </a:endParaRP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 Professor, </a:t>
                      </a:r>
                    </a:p>
                    <a:p>
                      <a:pPr marL="0" indent="0" algn="l">
                        <a:lnSpc>
                          <a:spcPct val="100000"/>
                        </a:lnSpc>
                        <a:spcBef>
                          <a:spcPts val="200"/>
                        </a:spcBef>
                        <a:buSzPts val="810"/>
                        <a:buNone/>
                      </a:pP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Department of </a:t>
                      </a:r>
                      <a:r>
                        <a:rPr lang="en-US" sz="1400" b="1" dirty="0">
                          <a:solidFill>
                            <a:prstClr val="black"/>
                          </a:solidFill>
                          <a:latin typeface="Times New Roman" panose="02020603050405020304" pitchFamily="18" charset="0"/>
                          <a:ea typeface="Cambria"/>
                          <a:cs typeface="Times New Roman" panose="02020603050405020304" pitchFamily="18" charset="0"/>
                          <a:sym typeface="Cambria"/>
                        </a:rPr>
                        <a:t>Computer Science and Engineering, </a:t>
                      </a: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KLH CSE Bowrampet Campus</a:t>
                      </a:r>
                      <a:endParaRPr lang="en-US" sz="1400" dirty="0">
                        <a:solidFill>
                          <a:schemeClr val="dk1"/>
                        </a:solidFill>
                        <a:latin typeface="Times New Roman" panose="02020603050405020304" pitchFamily="18" charset="0"/>
                        <a:ea typeface="Cambria"/>
                        <a:cs typeface="Times New Roman" panose="02020603050405020304" pitchFamily="18" charset="0"/>
                        <a:sym typeface="Arial"/>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31" name="Group 30">
            <a:extLst>
              <a:ext uri="{FF2B5EF4-FFF2-40B4-BE49-F238E27FC236}">
                <a16:creationId xmlns:a16="http://schemas.microsoft.com/office/drawing/2014/main" id="{8A67E7A6-1F33-FBD3-09B8-F35F17C8F890}"/>
              </a:ext>
            </a:extLst>
          </p:cNvPr>
          <p:cNvGrpSpPr/>
          <p:nvPr/>
        </p:nvGrpSpPr>
        <p:grpSpPr>
          <a:xfrm>
            <a:off x="442519" y="4562547"/>
            <a:ext cx="230240" cy="232995"/>
            <a:chOff x="1567861" y="1613059"/>
            <a:chExt cx="230240" cy="232995"/>
          </a:xfrm>
          <a:solidFill>
            <a:srgbClr val="00B0F0"/>
          </a:solidFill>
        </p:grpSpPr>
        <p:sp>
          <p:nvSpPr>
            <p:cNvPr id="32" name="Isosceles Triangle 31">
              <a:extLst>
                <a:ext uri="{FF2B5EF4-FFF2-40B4-BE49-F238E27FC236}">
                  <a16:creationId xmlns:a16="http://schemas.microsoft.com/office/drawing/2014/main" id="{FE269535-B3A3-75F2-310C-D43D8AC3F905}"/>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33" name="Isosceles Triangle 32">
              <a:extLst>
                <a:ext uri="{FF2B5EF4-FFF2-40B4-BE49-F238E27FC236}">
                  <a16:creationId xmlns:a16="http://schemas.microsoft.com/office/drawing/2014/main" id="{FA8E9237-F9D3-FB94-D6EB-94D77AEFD506}"/>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34" name="Date Placeholder 33">
            <a:extLst>
              <a:ext uri="{FF2B5EF4-FFF2-40B4-BE49-F238E27FC236}">
                <a16:creationId xmlns:a16="http://schemas.microsoft.com/office/drawing/2014/main" id="{C1554CCE-4DF8-89E6-E0F6-3C2A1439C7FA}"/>
              </a:ext>
            </a:extLst>
          </p:cNvPr>
          <p:cNvSpPr>
            <a:spLocks noGrp="1"/>
          </p:cNvSpPr>
          <p:nvPr>
            <p:ph type="dt" sz="half" idx="10"/>
          </p:nvPr>
        </p:nvSpPr>
        <p:spPr/>
        <p:txBody>
          <a:bodyPr/>
          <a:lstStyle/>
          <a:p>
            <a:r>
              <a:rPr lang="en-US" b="1" dirty="0"/>
              <a:t>Date</a:t>
            </a:r>
            <a:endParaRPr lang="en-IN" b="1" dirty="0"/>
          </a:p>
        </p:txBody>
      </p:sp>
      <p:sp>
        <p:nvSpPr>
          <p:cNvPr id="35" name="Footer Placeholder 34">
            <a:extLst>
              <a:ext uri="{FF2B5EF4-FFF2-40B4-BE49-F238E27FC236}">
                <a16:creationId xmlns:a16="http://schemas.microsoft.com/office/drawing/2014/main" id="{8FB49AA0-2464-6225-6B6C-063F9A6ECD20}"/>
              </a:ext>
            </a:extLst>
          </p:cNvPr>
          <p:cNvSpPr>
            <a:spLocks noGrp="1"/>
          </p:cNvSpPr>
          <p:nvPr>
            <p:ph type="ftr" sz="quarter" idx="11"/>
          </p:nvPr>
        </p:nvSpPr>
        <p:spPr/>
        <p:txBody>
          <a:bodyPr/>
          <a:lstStyle/>
          <a:p>
            <a:r>
              <a:rPr lang="en-IN" b="1" dirty="0"/>
              <a:t>SOA Project Review-1</a:t>
            </a:r>
          </a:p>
        </p:txBody>
      </p:sp>
      <p:sp>
        <p:nvSpPr>
          <p:cNvPr id="36" name="Slide Number Placeholder 35">
            <a:extLst>
              <a:ext uri="{FF2B5EF4-FFF2-40B4-BE49-F238E27FC236}">
                <a16:creationId xmlns:a16="http://schemas.microsoft.com/office/drawing/2014/main" id="{28F834F9-83AA-E3F9-773A-4B7A83B345F7}"/>
              </a:ext>
            </a:extLst>
          </p:cNvPr>
          <p:cNvSpPr>
            <a:spLocks noGrp="1"/>
          </p:cNvSpPr>
          <p:nvPr>
            <p:ph type="sldNum" sz="quarter" idx="12"/>
          </p:nvPr>
        </p:nvSpPr>
        <p:spPr/>
        <p:txBody>
          <a:bodyPr/>
          <a:lstStyle/>
          <a:p>
            <a:fld id="{01AD1135-6E10-4422-AC8B-257B84239C9C}" type="slidenum">
              <a:rPr lang="en-IN" smtClean="0"/>
              <a:t>1</a:t>
            </a:fld>
            <a:endParaRPr lang="en-IN" dirty="0"/>
          </a:p>
        </p:txBody>
      </p:sp>
      <p:sp>
        <p:nvSpPr>
          <p:cNvPr id="4" name="Rectangle: Rounded Corners 3">
            <a:extLst>
              <a:ext uri="{FF2B5EF4-FFF2-40B4-BE49-F238E27FC236}">
                <a16:creationId xmlns:a16="http://schemas.microsoft.com/office/drawing/2014/main" id="{4EE5F681-D3B5-BC4B-8AA4-5688DCEEFB44}"/>
              </a:ext>
            </a:extLst>
          </p:cNvPr>
          <p:cNvSpPr/>
          <p:nvPr/>
        </p:nvSpPr>
        <p:spPr>
          <a:xfrm>
            <a:off x="522941" y="821374"/>
            <a:ext cx="10915650" cy="985640"/>
          </a:xfrm>
          <a:prstGeom prst="roundRect">
            <a:avLst>
              <a:gd name="adj" fmla="val 11607"/>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C00000"/>
              </a:solidFill>
              <a:effectLst/>
              <a:uLnTx/>
              <a:uFillTx/>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dirty="0">
              <a:ln>
                <a:noFill/>
              </a:ln>
              <a:solidFill>
                <a:schemeClr val="bg1"/>
              </a:solidFill>
              <a:effectLst/>
              <a:uLnTx/>
              <a:uFillTx/>
              <a:latin typeface="Times New Roman" panose="02020603050405020304" pitchFamily="18" charset="0"/>
              <a:cs typeface="Times New Roman" panose="02020603050405020304" pitchFamily="18" charset="0"/>
            </a:endParaRPr>
          </a:p>
          <a:p>
            <a:pPr algn="ct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A4782FAE-AFAF-27B2-2591-CFAF7695BD03}"/>
              </a:ext>
            </a:extLst>
          </p:cNvPr>
          <p:cNvPicPr>
            <a:picLocks noChangeAspect="1"/>
          </p:cNvPicPr>
          <p:nvPr/>
        </p:nvPicPr>
        <p:blipFill>
          <a:blip r:embed="rId3"/>
          <a:stretch>
            <a:fillRect/>
          </a:stretch>
        </p:blipFill>
        <p:spPr>
          <a:xfrm>
            <a:off x="10249380" y="0"/>
            <a:ext cx="1942620" cy="622550"/>
          </a:xfrm>
          <a:prstGeom prst="rect">
            <a:avLst/>
          </a:prstGeom>
        </p:spPr>
      </p:pic>
      <p:sp>
        <p:nvSpPr>
          <p:cNvPr id="14" name="TextBox 13">
            <a:extLst>
              <a:ext uri="{FF2B5EF4-FFF2-40B4-BE49-F238E27FC236}">
                <a16:creationId xmlns:a16="http://schemas.microsoft.com/office/drawing/2014/main" id="{DD4CF64F-3FB6-0CE4-B778-63C5D5A1D343}"/>
              </a:ext>
            </a:extLst>
          </p:cNvPr>
          <p:cNvSpPr txBox="1"/>
          <p:nvPr/>
        </p:nvSpPr>
        <p:spPr>
          <a:xfrm>
            <a:off x="660516" y="246075"/>
            <a:ext cx="10715625" cy="1653658"/>
          </a:xfrm>
          <a:prstGeom prst="rect">
            <a:avLst/>
          </a:prstGeom>
          <a:noFill/>
        </p:spPr>
        <p:txBody>
          <a:bodyPr wrap="square">
            <a:spAutoFit/>
          </a:bodyPr>
          <a:lstStyle/>
          <a:p>
            <a:pPr algn="ctr">
              <a:lnSpc>
                <a:spcPct val="115000"/>
              </a:lnSpc>
              <a:spcAft>
                <a:spcPts val="800"/>
              </a:spcAft>
              <a:buNone/>
            </a:pPr>
            <a:r>
              <a:rPr lang="en-IN" sz="2800" b="1" dirty="0">
                <a:latin typeface="Times New Roman" panose="02020603050405020304" pitchFamily="18" charset="0"/>
                <a:ea typeface="Times New Roman" panose="02020603050405020304" pitchFamily="18" charset="0"/>
                <a:cs typeface="Aptos" panose="020B0004020202020204" pitchFamily="34" charset="0"/>
              </a:rPr>
              <a:t> </a:t>
            </a:r>
            <a:endParaRPr lang="en-IN" sz="2800" dirty="0">
              <a:latin typeface="Aptos" panose="020B0004020202020204" pitchFamily="34" charset="0"/>
              <a:ea typeface="Aptos" panose="020B0004020202020204" pitchFamily="34" charset="0"/>
              <a:cs typeface="Aptos" panose="020B0004020202020204" pitchFamily="34" charset="0"/>
            </a:endParaRPr>
          </a:p>
          <a:p>
            <a:pPr algn="ctr">
              <a:lnSpc>
                <a:spcPct val="115000"/>
              </a:lnSpc>
              <a:spcAft>
                <a:spcPts val="800"/>
              </a:spcAft>
              <a:buNone/>
            </a:pPr>
            <a:r>
              <a:rPr lang="en-IN" sz="2800" b="1" dirty="0">
                <a:latin typeface="Times New Roman" panose="02020603050405020304" pitchFamily="18" charset="0"/>
                <a:ea typeface="Times New Roman" panose="02020603050405020304" pitchFamily="18" charset="0"/>
                <a:cs typeface="Aptos" panose="020B0004020202020204" pitchFamily="34" charset="0"/>
              </a:rPr>
              <a:t>Smart Canteen Ordering and Management System Using Spring Boot and React</a:t>
            </a:r>
            <a:endParaRPr lang="en-IN" sz="2800" dirty="0">
              <a:effectLst/>
              <a:latin typeface="Aptos" panose="020B0004020202020204" pitchFamily="34" charset="0"/>
              <a:ea typeface="Aptos" panose="020B0004020202020204" pitchFamily="34" charset="0"/>
              <a:cs typeface="Aptos" panose="020B0004020202020204" pitchFamily="34" charset="0"/>
            </a:endParaRPr>
          </a:p>
        </p:txBody>
      </p:sp>
      <p:sp>
        <p:nvSpPr>
          <p:cNvPr id="17" name="TextBox 16">
            <a:extLst>
              <a:ext uri="{FF2B5EF4-FFF2-40B4-BE49-F238E27FC236}">
                <a16:creationId xmlns:a16="http://schemas.microsoft.com/office/drawing/2014/main" id="{D25BC1A0-FDE4-1557-375E-6E0BD69BC77B}"/>
              </a:ext>
            </a:extLst>
          </p:cNvPr>
          <p:cNvSpPr txBox="1"/>
          <p:nvPr/>
        </p:nvSpPr>
        <p:spPr>
          <a:xfrm>
            <a:off x="738187" y="2246806"/>
            <a:ext cx="10715625" cy="584775"/>
          </a:xfrm>
          <a:prstGeom prst="rect">
            <a:avLst/>
          </a:prstGeom>
          <a:noFill/>
        </p:spPr>
        <p:txBody>
          <a:bodyPr wrap="square">
            <a:spAutoFit/>
          </a:bodyPr>
          <a:lstStyle/>
          <a:p>
            <a:pPr lvl="0" algn="ctr">
              <a:defRPr/>
            </a:pPr>
            <a:r>
              <a:rPr lang="en-IN" sz="3200" b="1" dirty="0">
                <a:latin typeface="Times New Roman" panose="02020603050405020304" pitchFamily="18" charset="0"/>
                <a:cs typeface="Times New Roman" panose="02020603050405020304" pitchFamily="18" charset="0"/>
              </a:rPr>
              <a:t>SOA Project Review-1</a:t>
            </a:r>
          </a:p>
        </p:txBody>
      </p:sp>
    </p:spTree>
    <p:extLst>
      <p:ext uri="{BB962C8B-B14F-4D97-AF65-F5344CB8AC3E}">
        <p14:creationId xmlns:p14="http://schemas.microsoft.com/office/powerpoint/2010/main" val="22476026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B6FAE64B-DFA9-4528-D74E-DAEA88C008D5}"/>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4" name="Footer Placeholder 3">
            <a:extLst>
              <a:ext uri="{FF2B5EF4-FFF2-40B4-BE49-F238E27FC236}">
                <a16:creationId xmlns:a16="http://schemas.microsoft.com/office/drawing/2014/main" id="{41222DE7-17C6-1B7E-71C0-2347B0AA2C6B}"/>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5" name="Slide Number Placeholder 4">
            <a:extLst>
              <a:ext uri="{FF2B5EF4-FFF2-40B4-BE49-F238E27FC236}">
                <a16:creationId xmlns:a16="http://schemas.microsoft.com/office/drawing/2014/main" id="{6420A00F-144B-157D-A12F-7CF90703CA18}"/>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A3A418F-4DEE-4BB1-940B-1145D135750E}"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9797C6D7-F4DC-4908-B610-D10EE43A9B41}"/>
              </a:ext>
            </a:extLst>
          </p:cNvPr>
          <p:cNvSpPr txBox="1"/>
          <p:nvPr/>
        </p:nvSpPr>
        <p:spPr>
          <a:xfrm>
            <a:off x="3020906" y="173546"/>
            <a:ext cx="5854242" cy="646331"/>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3600" b="1" i="0" u="none" strike="noStrike" kern="1200" cap="none" spc="0" normalizeH="0" baseline="0" noProof="0" dirty="0">
                <a:ln w="0"/>
                <a:solidFill>
                  <a:srgbClr val="4472C4"/>
                </a:solidFill>
                <a:effectLst/>
                <a:uLnTx/>
                <a:uFillTx/>
                <a:latin typeface="Times New Roman" panose="02020603050405020304" pitchFamily="18" charset="0"/>
                <a:ea typeface="Cambria"/>
                <a:cs typeface="Times New Roman" panose="02020603050405020304" pitchFamily="18" charset="0"/>
              </a:rPr>
              <a:t>Outline of Project Work</a:t>
            </a:r>
          </a:p>
        </p:txBody>
      </p:sp>
      <p:grpSp>
        <p:nvGrpSpPr>
          <p:cNvPr id="8" name="Group 7">
            <a:extLst>
              <a:ext uri="{FF2B5EF4-FFF2-40B4-BE49-F238E27FC236}">
                <a16:creationId xmlns:a16="http://schemas.microsoft.com/office/drawing/2014/main" id="{B25CDE63-8DDC-4AC4-7713-9D89D6D0F4B1}"/>
              </a:ext>
            </a:extLst>
          </p:cNvPr>
          <p:cNvGrpSpPr/>
          <p:nvPr/>
        </p:nvGrpSpPr>
        <p:grpSpPr>
          <a:xfrm>
            <a:off x="2001361" y="1377996"/>
            <a:ext cx="6784432" cy="4438977"/>
            <a:chOff x="1929643" y="1656655"/>
            <a:chExt cx="6784432" cy="4438977"/>
          </a:xfrm>
        </p:grpSpPr>
        <p:sp>
          <p:nvSpPr>
            <p:cNvPr id="16" name="TextBox 15">
              <a:extLst>
                <a:ext uri="{FF2B5EF4-FFF2-40B4-BE49-F238E27FC236}">
                  <a16:creationId xmlns:a16="http://schemas.microsoft.com/office/drawing/2014/main" id="{C0A4CA55-824E-91B2-D5F9-032778D4B8B3}"/>
                </a:ext>
              </a:extLst>
            </p:cNvPr>
            <p:cNvSpPr txBox="1"/>
            <p:nvPr/>
          </p:nvSpPr>
          <p:spPr>
            <a:xfrm>
              <a:off x="2675533" y="3257433"/>
              <a:ext cx="4267376" cy="960328"/>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Challenges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18" name="TextBox 17">
              <a:extLst>
                <a:ext uri="{FF2B5EF4-FFF2-40B4-BE49-F238E27FC236}">
                  <a16:creationId xmlns:a16="http://schemas.microsoft.com/office/drawing/2014/main" id="{EE7E17B2-5AF8-C463-91C3-5B87FC773369}"/>
                </a:ext>
              </a:extLst>
            </p:cNvPr>
            <p:cNvSpPr txBox="1"/>
            <p:nvPr/>
          </p:nvSpPr>
          <p:spPr>
            <a:xfrm>
              <a:off x="2922896" y="3753448"/>
              <a:ext cx="4374693" cy="873572"/>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Research Objectives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0" name="TextBox 19">
              <a:extLst>
                <a:ext uri="{FF2B5EF4-FFF2-40B4-BE49-F238E27FC236}">
                  <a16:creationId xmlns:a16="http://schemas.microsoft.com/office/drawing/2014/main" id="{6D160BA9-A291-1BA5-C03E-7218C2169C28}"/>
                </a:ext>
              </a:extLst>
            </p:cNvPr>
            <p:cNvSpPr txBox="1"/>
            <p:nvPr/>
          </p:nvSpPr>
          <p:spPr>
            <a:xfrm>
              <a:off x="3139925" y="4332926"/>
              <a:ext cx="4529560" cy="937693"/>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Conclusion &amp; Future Work</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2" name="TextBox 21">
              <a:extLst>
                <a:ext uri="{FF2B5EF4-FFF2-40B4-BE49-F238E27FC236}">
                  <a16:creationId xmlns:a16="http://schemas.microsoft.com/office/drawing/2014/main" id="{6C792DA3-F484-948A-E346-F158FE24CE3F}"/>
                </a:ext>
              </a:extLst>
            </p:cNvPr>
            <p:cNvSpPr txBox="1"/>
            <p:nvPr/>
          </p:nvSpPr>
          <p:spPr>
            <a:xfrm>
              <a:off x="3426151" y="4880317"/>
              <a:ext cx="4774676" cy="919739"/>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References</a:t>
              </a:r>
              <a:b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br>
              <a:endPar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p:txBody>
        </p:sp>
        <p:sp>
          <p:nvSpPr>
            <p:cNvPr id="24" name="TextBox 23">
              <a:extLst>
                <a:ext uri="{FF2B5EF4-FFF2-40B4-BE49-F238E27FC236}">
                  <a16:creationId xmlns:a16="http://schemas.microsoft.com/office/drawing/2014/main" id="{957E2443-43F4-3FA3-6C83-796D6B456220}"/>
                </a:ext>
              </a:extLst>
            </p:cNvPr>
            <p:cNvSpPr txBox="1"/>
            <p:nvPr/>
          </p:nvSpPr>
          <p:spPr>
            <a:xfrm>
              <a:off x="3822549" y="5483028"/>
              <a:ext cx="4891526" cy="612604"/>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Publications Details</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p:txBody>
        </p:sp>
        <p:pic>
          <p:nvPicPr>
            <p:cNvPr id="7" name="Graphic 6">
              <a:extLst>
                <a:ext uri="{FF2B5EF4-FFF2-40B4-BE49-F238E27FC236}">
                  <a16:creationId xmlns:a16="http://schemas.microsoft.com/office/drawing/2014/main" id="{FEE87FCF-6A51-9005-163C-5E3B5C1257B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8229530" y="5002476"/>
              <a:ext cx="455841" cy="536286"/>
            </a:xfrm>
            <a:prstGeom prst="rect">
              <a:avLst/>
            </a:prstGeom>
          </p:spPr>
        </p:pic>
        <p:sp>
          <p:nvSpPr>
            <p:cNvPr id="28" name="Content Placeholder 11">
              <a:extLst>
                <a:ext uri="{FF2B5EF4-FFF2-40B4-BE49-F238E27FC236}">
                  <a16:creationId xmlns:a16="http://schemas.microsoft.com/office/drawing/2014/main" id="{F1211E34-5F1E-9B5C-4C59-2549F412DCD1}"/>
                </a:ext>
              </a:extLst>
            </p:cNvPr>
            <p:cNvSpPr txBox="1">
              <a:spLocks/>
            </p:cNvSpPr>
            <p:nvPr/>
          </p:nvSpPr>
          <p:spPr>
            <a:xfrm>
              <a:off x="1929643" y="1656655"/>
              <a:ext cx="3548330" cy="748994"/>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Focus</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31" name="Content Placeholder 11">
              <a:extLst>
                <a:ext uri="{FF2B5EF4-FFF2-40B4-BE49-F238E27FC236}">
                  <a16:creationId xmlns:a16="http://schemas.microsoft.com/office/drawing/2014/main" id="{4D713724-2EA7-CA04-47B9-F63B3DAC496D}"/>
                </a:ext>
              </a:extLst>
            </p:cNvPr>
            <p:cNvSpPr txBox="1">
              <a:spLocks/>
            </p:cNvSpPr>
            <p:nvPr/>
          </p:nvSpPr>
          <p:spPr>
            <a:xfrm>
              <a:off x="2209801" y="2217836"/>
              <a:ext cx="3886200" cy="666229"/>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Introduction</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36" name="Graphic 35">
              <a:extLst>
                <a:ext uri="{FF2B5EF4-FFF2-40B4-BE49-F238E27FC236}">
                  <a16:creationId xmlns:a16="http://schemas.microsoft.com/office/drawing/2014/main" id="{55B3B570-3194-94D5-869B-2F3E3E133BA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683523" y="4358877"/>
              <a:ext cx="455841" cy="536286"/>
            </a:xfrm>
            <a:prstGeom prst="rect">
              <a:avLst/>
            </a:prstGeom>
          </p:spPr>
        </p:pic>
        <p:pic>
          <p:nvPicPr>
            <p:cNvPr id="37" name="Graphic 36">
              <a:extLst>
                <a:ext uri="{FF2B5EF4-FFF2-40B4-BE49-F238E27FC236}">
                  <a16:creationId xmlns:a16="http://schemas.microsoft.com/office/drawing/2014/main" id="{A01B3509-5090-7764-12FF-0CDB13E360A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229942" y="3813495"/>
              <a:ext cx="455841" cy="536286"/>
            </a:xfrm>
            <a:prstGeom prst="rect">
              <a:avLst/>
            </a:prstGeom>
          </p:spPr>
        </p:pic>
        <p:pic>
          <p:nvPicPr>
            <p:cNvPr id="38" name="Graphic 37">
              <a:extLst>
                <a:ext uri="{FF2B5EF4-FFF2-40B4-BE49-F238E27FC236}">
                  <a16:creationId xmlns:a16="http://schemas.microsoft.com/office/drawing/2014/main" id="{4A5FDD7E-5A46-92A5-C963-19E091BBF72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863353" y="3200501"/>
              <a:ext cx="455841" cy="536286"/>
            </a:xfrm>
            <a:prstGeom prst="rect">
              <a:avLst/>
            </a:prstGeom>
          </p:spPr>
        </p:pic>
        <p:pic>
          <p:nvPicPr>
            <p:cNvPr id="39" name="Graphic 38">
              <a:extLst>
                <a:ext uri="{FF2B5EF4-FFF2-40B4-BE49-F238E27FC236}">
                  <a16:creationId xmlns:a16="http://schemas.microsoft.com/office/drawing/2014/main" id="{C50C5009-E2F0-E358-4C45-CAEADDEC93B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443196" y="2766955"/>
              <a:ext cx="455841" cy="536286"/>
            </a:xfrm>
            <a:prstGeom prst="rect">
              <a:avLst/>
            </a:prstGeom>
          </p:spPr>
        </p:pic>
        <p:pic>
          <p:nvPicPr>
            <p:cNvPr id="40" name="Graphic 39">
              <a:extLst>
                <a:ext uri="{FF2B5EF4-FFF2-40B4-BE49-F238E27FC236}">
                  <a16:creationId xmlns:a16="http://schemas.microsoft.com/office/drawing/2014/main" id="{F1D91F2F-C2FB-3146-467B-21A20C8410D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040392" y="2252522"/>
              <a:ext cx="455841" cy="536286"/>
            </a:xfrm>
            <a:prstGeom prst="rect">
              <a:avLst/>
            </a:prstGeom>
          </p:spPr>
        </p:pic>
        <p:pic>
          <p:nvPicPr>
            <p:cNvPr id="41" name="Graphic 40">
              <a:extLst>
                <a:ext uri="{FF2B5EF4-FFF2-40B4-BE49-F238E27FC236}">
                  <a16:creationId xmlns:a16="http://schemas.microsoft.com/office/drawing/2014/main" id="{7B0FD951-BFA0-1228-E572-2BFE866AEE7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5626122" y="1721293"/>
              <a:ext cx="455841" cy="536286"/>
            </a:xfrm>
            <a:prstGeom prst="rect">
              <a:avLst/>
            </a:prstGeom>
          </p:spPr>
        </p:pic>
        <p:sp>
          <p:nvSpPr>
            <p:cNvPr id="14" name="TextBox 13">
              <a:extLst>
                <a:ext uri="{FF2B5EF4-FFF2-40B4-BE49-F238E27FC236}">
                  <a16:creationId xmlns:a16="http://schemas.microsoft.com/office/drawing/2014/main" id="{576F380C-3238-E430-3C22-3C23884CE532}"/>
                </a:ext>
              </a:extLst>
            </p:cNvPr>
            <p:cNvSpPr txBox="1"/>
            <p:nvPr/>
          </p:nvSpPr>
          <p:spPr>
            <a:xfrm>
              <a:off x="2490411" y="2773626"/>
              <a:ext cx="4004225" cy="506870"/>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4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Literature Survey</a:t>
              </a:r>
              <a:endParaRPr kumimoji="0" lang="en-US" sz="204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grpSp>
      <p:graphicFrame>
        <p:nvGraphicFramePr>
          <p:cNvPr id="26" name="Diagram 25">
            <a:extLst>
              <a:ext uri="{FF2B5EF4-FFF2-40B4-BE49-F238E27FC236}">
                <a16:creationId xmlns:a16="http://schemas.microsoft.com/office/drawing/2014/main" id="{C044B753-17EC-8A45-927F-C44CC40ED5BA}"/>
              </a:ext>
            </a:extLst>
          </p:cNvPr>
          <p:cNvGraphicFramePr/>
          <p:nvPr/>
        </p:nvGraphicFramePr>
        <p:xfrm>
          <a:off x="41510" y="115414"/>
          <a:ext cx="1474694" cy="94234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0" name="Picture 9">
            <a:extLst>
              <a:ext uri="{FF2B5EF4-FFF2-40B4-BE49-F238E27FC236}">
                <a16:creationId xmlns:a16="http://schemas.microsoft.com/office/drawing/2014/main" id="{0B4D1914-919F-D842-1FC2-1BBFC0E95C24}"/>
              </a:ext>
            </a:extLst>
          </p:cNvPr>
          <p:cNvPicPr>
            <a:picLocks noChangeAspect="1"/>
          </p:cNvPicPr>
          <p:nvPr/>
        </p:nvPicPr>
        <p:blipFill>
          <a:blip r:embed="rId9"/>
          <a:stretch>
            <a:fillRect/>
          </a:stretch>
        </p:blipFill>
        <p:spPr>
          <a:xfrm>
            <a:off x="10249380" y="0"/>
            <a:ext cx="1901110" cy="622550"/>
          </a:xfrm>
          <a:prstGeom prst="rect">
            <a:avLst/>
          </a:prstGeom>
        </p:spPr>
      </p:pic>
    </p:spTree>
    <p:extLst>
      <p:ext uri="{BB962C8B-B14F-4D97-AF65-F5344CB8AC3E}">
        <p14:creationId xmlns:p14="http://schemas.microsoft.com/office/powerpoint/2010/main" val="2747969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C8F81-5402-FBBE-D32A-834F3C60336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DBD4C9C-9DEB-26F4-AA75-F51C06DD64DC}"/>
              </a:ext>
            </a:extLst>
          </p:cNvPr>
          <p:cNvSpPr txBox="1"/>
          <p:nvPr/>
        </p:nvSpPr>
        <p:spPr>
          <a:xfrm>
            <a:off x="3991897" y="482232"/>
            <a:ext cx="6096000" cy="646331"/>
          </a:xfrm>
          <a:prstGeom prst="rect">
            <a:avLst/>
          </a:prstGeom>
          <a:noFill/>
        </p:spPr>
        <p:txBody>
          <a:bodyPr wrap="square">
            <a:spAutoFit/>
          </a:bodyPr>
          <a:lstStyle/>
          <a:p>
            <a:r>
              <a:rPr lang="en-US" sz="3600" b="1" dirty="0"/>
              <a:t>Problem Statement</a:t>
            </a:r>
          </a:p>
        </p:txBody>
      </p:sp>
      <p:pic>
        <p:nvPicPr>
          <p:cNvPr id="3" name="Picture 2">
            <a:extLst>
              <a:ext uri="{FF2B5EF4-FFF2-40B4-BE49-F238E27FC236}">
                <a16:creationId xmlns:a16="http://schemas.microsoft.com/office/drawing/2014/main" id="{17A614DC-364B-1BD9-B452-BC2E55FD9D04}"/>
              </a:ext>
            </a:extLst>
          </p:cNvPr>
          <p:cNvPicPr>
            <a:picLocks noChangeAspect="1"/>
          </p:cNvPicPr>
          <p:nvPr/>
        </p:nvPicPr>
        <p:blipFill>
          <a:blip r:embed="rId2"/>
          <a:stretch>
            <a:fillRect/>
          </a:stretch>
        </p:blipFill>
        <p:spPr>
          <a:xfrm>
            <a:off x="10249380" y="0"/>
            <a:ext cx="1942620" cy="622550"/>
          </a:xfrm>
          <a:prstGeom prst="rect">
            <a:avLst/>
          </a:prstGeom>
        </p:spPr>
      </p:pic>
      <p:sp>
        <p:nvSpPr>
          <p:cNvPr id="4" name="TextBox 3">
            <a:extLst>
              <a:ext uri="{FF2B5EF4-FFF2-40B4-BE49-F238E27FC236}">
                <a16:creationId xmlns:a16="http://schemas.microsoft.com/office/drawing/2014/main" id="{17BAA62E-E74B-3DB1-02EA-61FAACAA9DFF}"/>
              </a:ext>
            </a:extLst>
          </p:cNvPr>
          <p:cNvSpPr txBox="1"/>
          <p:nvPr/>
        </p:nvSpPr>
        <p:spPr>
          <a:xfrm>
            <a:off x="625642" y="1946712"/>
            <a:ext cx="10026316" cy="2862322"/>
          </a:xfrm>
          <a:prstGeom prst="rect">
            <a:avLst/>
          </a:prstGeom>
          <a:noFill/>
        </p:spPr>
        <p:txBody>
          <a:bodyPr wrap="square">
            <a:spAutoFit/>
          </a:bodyPr>
          <a:lstStyle/>
          <a:p>
            <a:pPr>
              <a:buNone/>
            </a:pPr>
            <a:r>
              <a:rPr lang="en-IN" dirty="0"/>
              <a:t>Traditional college canteens generally depend on manual ordering and communication between students and canteen staff. During peak hours, students have to stand in long queues, wait for food preparation, and communicate their orders manually. This process can result in increased waiting time, incorrect orders, difficulty in handling peak-hour demand, and problems in maintaining accurate order records.</a:t>
            </a:r>
          </a:p>
          <a:p>
            <a:pPr>
              <a:buNone/>
            </a:pPr>
            <a:endParaRPr lang="en-IN" dirty="0"/>
          </a:p>
          <a:p>
            <a:pPr>
              <a:buNone/>
            </a:pPr>
            <a:r>
              <a:rPr lang="en-IN" dirty="0"/>
              <a:t>The absence of a centralized digital system also makes it difficult for canteen staff to efficiently manage food availability, incoming orders, order preparation, and pickup verification. Therefore, there is a need for a secure and user-friendly digital platform that can connect students and canteen staff and manage the complete ordering and pickup process efficiently.</a:t>
            </a:r>
          </a:p>
        </p:txBody>
      </p:sp>
    </p:spTree>
    <p:extLst>
      <p:ext uri="{BB962C8B-B14F-4D97-AF65-F5344CB8AC3E}">
        <p14:creationId xmlns:p14="http://schemas.microsoft.com/office/powerpoint/2010/main" val="18439377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4AF34-8CFC-8161-A3CD-DED259C92A6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F508849-A0DD-12D4-FD0D-5322CA138B2F}"/>
              </a:ext>
            </a:extLst>
          </p:cNvPr>
          <p:cNvSpPr txBox="1"/>
          <p:nvPr/>
        </p:nvSpPr>
        <p:spPr>
          <a:xfrm>
            <a:off x="3048000" y="469169"/>
            <a:ext cx="6096000" cy="646331"/>
          </a:xfrm>
          <a:prstGeom prst="rect">
            <a:avLst/>
          </a:prstGeom>
          <a:noFill/>
        </p:spPr>
        <p:txBody>
          <a:bodyPr wrap="square">
            <a:spAutoFit/>
          </a:bodyPr>
          <a:lstStyle/>
          <a:p>
            <a:pPr algn="ctr"/>
            <a:r>
              <a:rPr lang="en-US" sz="3600" b="1" dirty="0"/>
              <a:t>Objectives</a:t>
            </a:r>
          </a:p>
        </p:txBody>
      </p:sp>
      <p:pic>
        <p:nvPicPr>
          <p:cNvPr id="3" name="Picture 2">
            <a:extLst>
              <a:ext uri="{FF2B5EF4-FFF2-40B4-BE49-F238E27FC236}">
                <a16:creationId xmlns:a16="http://schemas.microsoft.com/office/drawing/2014/main" id="{5B2C6E66-DFCA-CBBA-3972-F62C5800AE03}"/>
              </a:ext>
            </a:extLst>
          </p:cNvPr>
          <p:cNvPicPr>
            <a:picLocks noChangeAspect="1"/>
          </p:cNvPicPr>
          <p:nvPr/>
        </p:nvPicPr>
        <p:blipFill>
          <a:blip r:embed="rId2"/>
          <a:stretch>
            <a:fillRect/>
          </a:stretch>
        </p:blipFill>
        <p:spPr>
          <a:xfrm>
            <a:off x="10249380" y="0"/>
            <a:ext cx="1942620" cy="622550"/>
          </a:xfrm>
          <a:prstGeom prst="rect">
            <a:avLst/>
          </a:prstGeom>
        </p:spPr>
      </p:pic>
      <p:sp>
        <p:nvSpPr>
          <p:cNvPr id="4" name="TextBox 3">
            <a:extLst>
              <a:ext uri="{FF2B5EF4-FFF2-40B4-BE49-F238E27FC236}">
                <a16:creationId xmlns:a16="http://schemas.microsoft.com/office/drawing/2014/main" id="{721CC856-8703-687B-69E9-42F6177C86D6}"/>
              </a:ext>
            </a:extLst>
          </p:cNvPr>
          <p:cNvSpPr txBox="1"/>
          <p:nvPr/>
        </p:nvSpPr>
        <p:spPr>
          <a:xfrm>
            <a:off x="256674" y="1556084"/>
            <a:ext cx="9817768" cy="5078313"/>
          </a:xfrm>
          <a:prstGeom prst="rect">
            <a:avLst/>
          </a:prstGeom>
          <a:noFill/>
        </p:spPr>
        <p:txBody>
          <a:bodyPr wrap="square">
            <a:spAutoFit/>
          </a:bodyPr>
          <a:lstStyle/>
          <a:p>
            <a:pPr marL="342900" lvl="0" indent="-342900">
              <a:buFont typeface="Arial" panose="020B0604020202020204" pitchFamily="34" charset="0"/>
              <a:buChar char="•"/>
            </a:pPr>
            <a:r>
              <a:rPr lang="en-IN" b="1" dirty="0"/>
              <a:t>To digitize the college canteen ordering process</a:t>
            </a:r>
            <a:r>
              <a:rPr lang="en-IN" dirty="0"/>
              <a:t> and reduce dependency on manual ordering.</a:t>
            </a:r>
          </a:p>
          <a:p>
            <a:pPr marL="342900" lvl="0" indent="-342900">
              <a:buFont typeface="Arial" panose="020B0604020202020204" pitchFamily="34" charset="0"/>
              <a:buChar char="•"/>
            </a:pPr>
            <a:r>
              <a:rPr lang="en-IN" b="1" dirty="0"/>
              <a:t>To reduce student waiting and queue time</a:t>
            </a:r>
            <a:r>
              <a:rPr lang="en-IN" dirty="0"/>
              <a:t> by allowing students to browse the menu and place orders through a web application.</a:t>
            </a:r>
          </a:p>
          <a:p>
            <a:pPr marL="342900" lvl="0" indent="-342900">
              <a:buFont typeface="Arial" panose="020B0604020202020204" pitchFamily="34" charset="0"/>
              <a:buChar char="•"/>
            </a:pPr>
            <a:r>
              <a:rPr lang="en-IN" b="1" dirty="0"/>
              <a:t>To provide an easy-to-use student interface</a:t>
            </a:r>
            <a:r>
              <a:rPr lang="en-IN" dirty="0"/>
              <a:t> for registration, login, menu browsing, cart management, and order placement.</a:t>
            </a:r>
          </a:p>
          <a:p>
            <a:pPr marL="342900" lvl="0" indent="-342900">
              <a:buFont typeface="Arial" panose="020B0604020202020204" pitchFamily="34" charset="0"/>
              <a:buChar char="•"/>
            </a:pPr>
            <a:r>
              <a:rPr lang="en-IN" b="1" dirty="0"/>
              <a:t>To provide a centralized canteen management dashboard</a:t>
            </a:r>
            <a:r>
              <a:rPr lang="en-IN" dirty="0"/>
              <a:t> for authorized staff.</a:t>
            </a:r>
          </a:p>
          <a:p>
            <a:pPr marL="342900" lvl="0" indent="-342900">
              <a:buFont typeface="Arial" panose="020B0604020202020204" pitchFamily="34" charset="0"/>
              <a:buChar char="•"/>
            </a:pPr>
            <a:r>
              <a:rPr lang="en-IN" b="1" dirty="0"/>
              <a:t>To enable real-time order status management</a:t>
            </a:r>
            <a:r>
              <a:rPr lang="en-IN" dirty="0"/>
              <a:t> through stages such as Placed, Confirmed, Preparing, Ready, and Completed.</a:t>
            </a:r>
          </a:p>
          <a:p>
            <a:pPr marL="342900" lvl="0" indent="-342900">
              <a:buFont typeface="Arial" panose="020B0604020202020204" pitchFamily="34" charset="0"/>
              <a:buChar char="•"/>
            </a:pPr>
            <a:r>
              <a:rPr lang="en-IN" b="1" dirty="0"/>
              <a:t>To minimize incorrect or duplicate food collection</a:t>
            </a:r>
            <a:r>
              <a:rPr lang="en-IN" dirty="0"/>
              <a:t> through Order ID or QR-code-based pickup verification.</a:t>
            </a:r>
          </a:p>
          <a:p>
            <a:pPr marL="342900" lvl="0" indent="-342900">
              <a:buFont typeface="Arial" panose="020B0604020202020204" pitchFamily="34" charset="0"/>
              <a:buChar char="•"/>
            </a:pPr>
            <a:r>
              <a:rPr lang="en-IN" b="1" dirty="0"/>
              <a:t>To maintain accurate digital records</a:t>
            </a:r>
            <a:r>
              <a:rPr lang="en-IN" dirty="0"/>
              <a:t> of users, food items, orders, order items, prices, and order statuses.</a:t>
            </a:r>
          </a:p>
          <a:p>
            <a:pPr marL="342900" lvl="0" indent="-342900">
              <a:buFont typeface="Arial" panose="020B0604020202020204" pitchFamily="34" charset="0"/>
              <a:buChar char="•"/>
            </a:pPr>
            <a:r>
              <a:rPr lang="en-IN" b="1" dirty="0"/>
              <a:t>To provide food availability and low-stock tracking</a:t>
            </a:r>
            <a:r>
              <a:rPr lang="en-IN" dirty="0"/>
              <a:t> for better canteen management.</a:t>
            </a:r>
          </a:p>
          <a:p>
            <a:pPr marL="342900" lvl="0" indent="-342900">
              <a:buFont typeface="Arial" panose="020B0604020202020204" pitchFamily="34" charset="0"/>
              <a:buChar char="•"/>
            </a:pPr>
            <a:r>
              <a:rPr lang="en-IN" b="1" dirty="0"/>
              <a:t>To generate sales reports and basic analytics</a:t>
            </a:r>
            <a:r>
              <a:rPr lang="en-IN" dirty="0"/>
              <a:t> that can help administrators understand demand and improve daily operations.</a:t>
            </a:r>
          </a:p>
          <a:p>
            <a:pPr marL="342900" lvl="0" indent="-342900">
              <a:buFont typeface="Arial" panose="020B0604020202020204" pitchFamily="34" charset="0"/>
              <a:buChar char="•"/>
            </a:pPr>
            <a:r>
              <a:rPr lang="en-IN" b="1" dirty="0"/>
              <a:t>To implement secure role-based access</a:t>
            </a:r>
            <a:r>
              <a:rPr lang="en-IN" dirty="0"/>
              <a:t> using Spring Security and JWT as described in the proposed system</a:t>
            </a:r>
          </a:p>
        </p:txBody>
      </p:sp>
    </p:spTree>
    <p:extLst>
      <p:ext uri="{BB962C8B-B14F-4D97-AF65-F5344CB8AC3E}">
        <p14:creationId xmlns:p14="http://schemas.microsoft.com/office/powerpoint/2010/main" val="39177829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2F4F9B-E4AF-FB2D-4FD2-6705D7641841}"/>
              </a:ext>
            </a:extLst>
          </p:cNvPr>
          <p:cNvSpPr>
            <a:spLocks noGrp="1"/>
          </p:cNvSpPr>
          <p:nvPr>
            <p:ph type="title"/>
          </p:nvPr>
        </p:nvSpPr>
        <p:spPr/>
        <p:txBody>
          <a:bodyPr/>
          <a:lstStyle/>
          <a:p>
            <a:r>
              <a:rPr lang="en-IN" sz="3600" b="1" dirty="0"/>
              <a:t>                  Project Architecture/Project Overview:</a:t>
            </a:r>
            <a:br>
              <a:rPr lang="en-IN" dirty="0"/>
            </a:br>
            <a:endParaRPr lang="en-IN" dirty="0"/>
          </a:p>
        </p:txBody>
      </p:sp>
      <p:pic>
        <p:nvPicPr>
          <p:cNvPr id="4" name="image2.png">
            <a:extLst>
              <a:ext uri="{FF2B5EF4-FFF2-40B4-BE49-F238E27FC236}">
                <a16:creationId xmlns:a16="http://schemas.microsoft.com/office/drawing/2014/main" id="{8B1EC389-7F23-DC79-5AA9-7C38DBA3AEEE}"/>
              </a:ext>
            </a:extLst>
          </p:cNvPr>
          <p:cNvPicPr>
            <a:picLocks noGrp="1"/>
          </p:cNvPicPr>
          <p:nvPr>
            <p:ph idx="1"/>
          </p:nvPr>
        </p:nvPicPr>
        <p:blipFill>
          <a:blip r:embed="rId2"/>
          <a:srcRect/>
          <a:stretch>
            <a:fillRect/>
          </a:stretch>
        </p:blipFill>
        <p:spPr>
          <a:xfrm>
            <a:off x="2137222" y="1825625"/>
            <a:ext cx="7917555" cy="4351338"/>
          </a:xfrm>
          <a:prstGeom prst="rect">
            <a:avLst/>
          </a:prstGeom>
          <a:ln/>
        </p:spPr>
      </p:pic>
    </p:spTree>
    <p:extLst>
      <p:ext uri="{BB962C8B-B14F-4D97-AF65-F5344CB8AC3E}">
        <p14:creationId xmlns:p14="http://schemas.microsoft.com/office/powerpoint/2010/main" val="4453951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AACD11AD-3AF5-B626-2B60-0567E4585BB7}"/>
              </a:ext>
            </a:extLst>
          </p:cNvPr>
          <p:cNvGraphicFramePr>
            <a:graphicFrameLocks/>
          </p:cNvGraphicFramePr>
          <p:nvPr>
            <p:extLst>
              <p:ext uri="{D42A27DB-BD31-4B8C-83A1-F6EECF244321}">
                <p14:modId xmlns:p14="http://schemas.microsoft.com/office/powerpoint/2010/main" val="505654623"/>
              </p:ext>
            </p:extLst>
          </p:nvPr>
        </p:nvGraphicFramePr>
        <p:xfrm>
          <a:off x="274646" y="689466"/>
          <a:ext cx="11642705" cy="4639054"/>
        </p:xfrm>
        <a:graphic>
          <a:graphicData uri="http://schemas.openxmlformats.org/drawingml/2006/table">
            <a:tbl>
              <a:tblPr firstRow="1" bandRow="1">
                <a:tableStyleId>{BC89EF96-8CEA-46FF-86C4-4CE0E7609802}</a:tableStyleId>
              </a:tblPr>
              <a:tblGrid>
                <a:gridCol w="1089006">
                  <a:extLst>
                    <a:ext uri="{9D8B030D-6E8A-4147-A177-3AD203B41FA5}">
                      <a16:colId xmlns:a16="http://schemas.microsoft.com/office/drawing/2014/main" val="20001"/>
                    </a:ext>
                  </a:extLst>
                </a:gridCol>
                <a:gridCol w="2275288">
                  <a:extLst>
                    <a:ext uri="{9D8B030D-6E8A-4147-A177-3AD203B41FA5}">
                      <a16:colId xmlns:a16="http://schemas.microsoft.com/office/drawing/2014/main" val="20002"/>
                    </a:ext>
                  </a:extLst>
                </a:gridCol>
                <a:gridCol w="2476109">
                  <a:extLst>
                    <a:ext uri="{9D8B030D-6E8A-4147-A177-3AD203B41FA5}">
                      <a16:colId xmlns:a16="http://schemas.microsoft.com/office/drawing/2014/main" val="20003"/>
                    </a:ext>
                  </a:extLst>
                </a:gridCol>
                <a:gridCol w="2936588">
                  <a:extLst>
                    <a:ext uri="{9D8B030D-6E8A-4147-A177-3AD203B41FA5}">
                      <a16:colId xmlns:a16="http://schemas.microsoft.com/office/drawing/2014/main" val="20004"/>
                    </a:ext>
                  </a:extLst>
                </a:gridCol>
                <a:gridCol w="2865714">
                  <a:extLst>
                    <a:ext uri="{9D8B030D-6E8A-4147-A177-3AD203B41FA5}">
                      <a16:colId xmlns:a16="http://schemas.microsoft.com/office/drawing/2014/main" val="1396003017"/>
                    </a:ext>
                  </a:extLst>
                </a:gridCol>
              </a:tblGrid>
              <a:tr h="387917">
                <a:tc>
                  <a:txBody>
                    <a:bodyPr/>
                    <a:lstStyle/>
                    <a:p>
                      <a:pPr algn="ctr">
                        <a:buNone/>
                      </a:pPr>
                      <a:r>
                        <a:rPr lang="en-US" dirty="0">
                          <a:latin typeface="Times New Roman" pitchFamily="18" charset="0"/>
                          <a:cs typeface="Times New Roman" pitchFamily="18" charset="0"/>
                        </a:rPr>
                        <a:t>Authors</a:t>
                      </a:r>
                    </a:p>
                  </a:txBody>
                  <a:tcPr>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latin typeface="Times New Roman" pitchFamily="18" charset="0"/>
                          <a:cs typeface="Times New Roman" pitchFamily="18" charset="0"/>
                        </a:rPr>
                        <a:t>Title of the Paper</a:t>
                      </a:r>
                    </a:p>
                  </a:txBody>
                  <a:tcPr>
                    <a:solidFill>
                      <a:srgbClr val="FFFF00"/>
                    </a:solidFill>
                  </a:tcPr>
                </a:tc>
                <a:tc>
                  <a:txBody>
                    <a:bodyPr/>
                    <a:lstStyle/>
                    <a:p>
                      <a:pPr algn="ctr">
                        <a:buNone/>
                      </a:pPr>
                      <a:r>
                        <a:rPr lang="en-US" dirty="0">
                          <a:latin typeface="Times New Roman" pitchFamily="18" charset="0"/>
                          <a:cs typeface="Times New Roman" pitchFamily="18" charset="0"/>
                        </a:rPr>
                        <a:t>Methodology</a:t>
                      </a:r>
                    </a:p>
                  </a:txBody>
                  <a:tcPr>
                    <a:solidFill>
                      <a:srgbClr val="FFFF00"/>
                    </a:solidFill>
                  </a:tcPr>
                </a:tc>
                <a:tc>
                  <a:txBody>
                    <a:bodyPr/>
                    <a:lstStyle/>
                    <a:p>
                      <a:pPr algn="ctr">
                        <a:buNone/>
                      </a:pPr>
                      <a:r>
                        <a:rPr lang="en-US" dirty="0">
                          <a:latin typeface="Times New Roman" pitchFamily="18" charset="0"/>
                          <a:cs typeface="Times New Roman" pitchFamily="18" charset="0"/>
                        </a:rPr>
                        <a:t>Inferences</a:t>
                      </a:r>
                    </a:p>
                  </a:txBody>
                  <a:tcPr>
                    <a:solidFill>
                      <a:srgbClr val="FFFF00"/>
                    </a:solidFill>
                  </a:tcPr>
                </a:tc>
                <a:tc>
                  <a:txBody>
                    <a:bodyPr/>
                    <a:lstStyle/>
                    <a:p>
                      <a:pPr algn="ctr">
                        <a:buNone/>
                      </a:pPr>
                      <a:r>
                        <a:rPr lang="en-US" dirty="0">
                          <a:latin typeface="Times New Roman" pitchFamily="18" charset="0"/>
                          <a:cs typeface="Times New Roman" pitchFamily="18" charset="0"/>
                        </a:rPr>
                        <a:t>Limitation/Future work</a:t>
                      </a:r>
                    </a:p>
                  </a:txBody>
                  <a:tcPr>
                    <a:solidFill>
                      <a:srgbClr val="FFFF00"/>
                    </a:solidFill>
                  </a:tcPr>
                </a:tc>
                <a:extLst>
                  <a:ext uri="{0D108BD9-81ED-4DB2-BD59-A6C34878D82A}">
                    <a16:rowId xmlns:a16="http://schemas.microsoft.com/office/drawing/2014/main" val="10000"/>
                  </a:ext>
                </a:extLst>
              </a:tr>
              <a:tr h="1541937">
                <a:tc>
                  <a:txBody>
                    <a:bodyPr/>
                    <a:lstStyle/>
                    <a:p>
                      <a:pPr marL="0" algn="l" defTabSz="914400" rtl="0" eaLnBrk="1" latinLnBrk="0" hangingPunct="1"/>
                      <a:r>
                        <a:rPr lang="en-IN" sz="1400" dirty="0"/>
                        <a:t>Rupali B. Kale et al.</a:t>
                      </a:r>
                      <a:endParaRPr lang="en-IN" sz="1400" b="0" i="0" u="none"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r>
                        <a:rPr lang="en-IN" sz="1400" dirty="0"/>
                        <a:t>Online Food Ordering System for College Canteen</a:t>
                      </a:r>
                      <a:endParaRPr lang="en-IN" sz="1400" b="1" i="0"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pPr marL="285750" marR="0" indent="-285750" algn="just"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t>Raspberry Pi, QR code scanner, LCD and Wi-Fi based ordering system</a:t>
                      </a:r>
                      <a:endParaRPr lang="en-US" sz="1400" b="0" i="0"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marR="0" indent="-285750" algn="just"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t>Automates manual canteen ordering and helps improve service efficiency. </a:t>
                      </a:r>
                      <a:r>
                        <a:rPr lang="en-IN" sz="1400" b="0" i="0" kern="1200" dirty="0">
                          <a:solidFill>
                            <a:srgbClr val="FF0000"/>
                          </a:solidFill>
                          <a:effectLst/>
                          <a:latin typeface="Times New Roman" panose="02020603050405020304" pitchFamily="18" charset="0"/>
                          <a:ea typeface="+mn-ea"/>
                          <a:cs typeface="Times New Roman" panose="02020603050405020304" pitchFamily="18" charset="0"/>
                        </a:rPr>
                        <a:t>.</a:t>
                      </a:r>
                      <a:endParaRPr lang="en-US" sz="1400" b="0" i="0"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indent="-285750" algn="l" defTabSz="914400" rtl="0" eaLnBrk="1" latinLnBrk="0" hangingPunct="1">
                        <a:buFont typeface="Arial" panose="020B0604020202020204" pitchFamily="34" charset="0"/>
                        <a:buChar char="•"/>
                      </a:pPr>
                      <a:r>
                        <a:rPr lang="en-IN" sz="1400" dirty="0"/>
                        <a:t>Hardware-based approach; scope for developing a more flexible web-based management system. </a:t>
                      </a:r>
                      <a:endPar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3714155954"/>
                  </a:ext>
                </a:extLst>
              </a:tr>
              <a:tr h="1354600">
                <a:tc>
                  <a:txBody>
                    <a:bodyPr/>
                    <a:lstStyle/>
                    <a:p>
                      <a:pPr marL="0" algn="l" defTabSz="914400" rtl="0" eaLnBrk="1" latinLnBrk="0" hangingPunct="1"/>
                      <a:r>
                        <a:rPr lang="en-IN" sz="1400" dirty="0"/>
                        <a:t>Pranav Bari et al.</a:t>
                      </a:r>
                      <a:endParaRPr lang="en-IN" sz="1400" b="0" i="0" u="none"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r>
                        <a:rPr lang="en-IN" sz="1400" dirty="0"/>
                        <a:t>Deploying an Intelligent Online Food Ordering System to Optimize College Canteen Operations</a:t>
                      </a:r>
                      <a:endParaRPr lang="en-IN" sz="1400" b="1" i="0" u="none" kern="1200" dirty="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t>MERN stack with online ordering and machine-learning-based recommendations</a:t>
                      </a:r>
                      <a:endParaRPr lang="en-US" sz="1400" b="0" i="0" u="none" kern="1200"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t>Reduces waiting time and improves order management; personalized recommendations can improve user experience. </a:t>
                      </a:r>
                      <a:endParaRPr lang="en-US" sz="1400" b="0" i="0" u="none" kern="1200"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indent="-285750" algn="l" defTabSz="914400" rtl="0" eaLnBrk="1" latinLnBrk="0" hangingPunct="1">
                        <a:buFont typeface="Arial" panose="020B0604020202020204" pitchFamily="34" charset="0"/>
                        <a:buChar char="•"/>
                      </a:pPr>
                      <a:r>
                        <a:rPr lang="en-IN" sz="1400" dirty="0"/>
                        <a:t>Focuses on MERN and ML; our work uses Spring Boot, React and MySQL with QR-based pickup verification.</a:t>
                      </a:r>
                      <a:endParaRPr lang="en-US" sz="1400" b="0" i="0" u="none" kern="1200" dirty="0">
                        <a:solidFill>
                          <a:schemeClr val="tx1"/>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2655426370"/>
                  </a:ext>
                </a:extLst>
              </a:tr>
              <a:tr h="1354600">
                <a:tc>
                  <a:txBody>
                    <a:bodyPr/>
                    <a:lstStyle/>
                    <a:p>
                      <a:pPr marL="0" algn="l" defTabSz="914400" rtl="0" eaLnBrk="1" latinLnBrk="0" hangingPunct="1"/>
                      <a:r>
                        <a:rPr lang="en-IN" sz="1400" dirty="0"/>
                        <a:t>Roshan Kolte et al.</a:t>
                      </a:r>
                      <a:endParaRPr lang="en-IN" sz="1400" b="1" i="0" u="none"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r>
                        <a:rPr lang="en-IN" sz="1400" dirty="0"/>
                        <a:t>Food Ordering for Campus</a:t>
                      </a:r>
                      <a:endParaRPr lang="en-IN" sz="1400" b="1" i="0" u="none" kern="1200" dirty="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t>QR-enabled digital menu, online ordering and online payment</a:t>
                      </a:r>
                      <a:endParaRPr lang="en-US" sz="1400" b="0" u="none" kern="1200" dirty="0">
                        <a:solidFill>
                          <a:schemeClr val="dk1"/>
                        </a:solidFill>
                        <a:effectLst/>
                        <a:latin typeface="Times New Roman" panose="02020603050405020304" pitchFamily="18" charset="0"/>
                        <a:cs typeface="Times New Roman" panose="02020603050405020304" pitchFamily="18" charset="0"/>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IN" sz="1400" dirty="0"/>
                        <a:t>QR scanning provides quick menu access, ordering and token-based food pickup. </a:t>
                      </a:r>
                      <a:endParaRPr lang="en-US" sz="1400" b="0" i="0" u="none" kern="1200"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indent="-285750" algn="l" defTabSz="914400" rtl="0" eaLnBrk="1" latinLnBrk="0" hangingPunct="1">
                        <a:buFont typeface="Arial" panose="020B0604020202020204" pitchFamily="34" charset="0"/>
                        <a:buChar char="•"/>
                      </a:pPr>
                      <a:r>
                        <a:rPr lang="en-IN" sz="1400"/>
                        <a:t>Mainly focuses on ordering and payment; further scope for complete order-status and administrative management.</a:t>
                      </a:r>
                      <a:endParaRPr lang="en-US" sz="1400" b="1" i="0" u="none" kern="1200" dirty="0">
                        <a:solidFill>
                          <a:schemeClr val="tx1"/>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2841575018"/>
                  </a:ext>
                </a:extLst>
              </a:tr>
            </a:tbl>
          </a:graphicData>
        </a:graphic>
      </p:graphicFrame>
      <p:sp>
        <p:nvSpPr>
          <p:cNvPr id="2" name="TextBox 1">
            <a:extLst>
              <a:ext uri="{FF2B5EF4-FFF2-40B4-BE49-F238E27FC236}">
                <a16:creationId xmlns:a16="http://schemas.microsoft.com/office/drawing/2014/main" id="{C48F0022-391A-4CFC-2851-87E76B37EAC2}"/>
              </a:ext>
            </a:extLst>
          </p:cNvPr>
          <p:cNvSpPr txBox="1"/>
          <p:nvPr/>
        </p:nvSpPr>
        <p:spPr>
          <a:xfrm>
            <a:off x="4560565" y="136525"/>
            <a:ext cx="3070868" cy="523220"/>
          </a:xfrm>
          <a:prstGeom prst="rect">
            <a:avLst/>
          </a:prstGeom>
          <a:noFill/>
        </p:spPr>
        <p:txBody>
          <a:bodyPr wrap="square" rtlCol="0">
            <a:spAutoFit/>
          </a:bodyPr>
          <a:lstStyle/>
          <a:p>
            <a:pPr algn="ctr"/>
            <a:r>
              <a:rPr lang="en-IN" sz="2800" b="1" dirty="0">
                <a:solidFill>
                  <a:srgbClr val="0064C8"/>
                </a:solidFill>
                <a:latin typeface="Times New Roman" panose="02020603050405020304" pitchFamily="18" charset="0"/>
                <a:ea typeface="Cambria"/>
                <a:cs typeface="Times New Roman" panose="02020603050405020304" pitchFamily="18" charset="0"/>
              </a:rPr>
              <a:t>Literature Survey</a:t>
            </a:r>
            <a:endParaRPr lang="en-IN" sz="2800" b="1" dirty="0">
              <a:latin typeface="Times New Roman" panose="02020603050405020304" pitchFamily="18" charset="0"/>
              <a:cs typeface="Times New Roman" panose="02020603050405020304" pitchFamily="18" charset="0"/>
            </a:endParaRPr>
          </a:p>
        </p:txBody>
      </p:sp>
      <p:sp>
        <p:nvSpPr>
          <p:cNvPr id="8" name="Date Placeholder 7">
            <a:extLst>
              <a:ext uri="{FF2B5EF4-FFF2-40B4-BE49-F238E27FC236}">
                <a16:creationId xmlns:a16="http://schemas.microsoft.com/office/drawing/2014/main" id="{A0FDE360-66C4-26CA-5DB9-8E99C2685BE0}"/>
              </a:ext>
            </a:extLst>
          </p:cNvPr>
          <p:cNvSpPr>
            <a:spLocks noGrp="1"/>
          </p:cNvSpPr>
          <p:nvPr>
            <p:ph type="dt" sz="half" idx="10"/>
          </p:nvPr>
        </p:nvSpPr>
        <p:spPr/>
        <p:txBody>
          <a:bodyPr/>
          <a:lstStyle/>
          <a:p>
            <a:endParaRPr lang="en-IN" dirty="0"/>
          </a:p>
        </p:txBody>
      </p:sp>
      <p:sp>
        <p:nvSpPr>
          <p:cNvPr id="9" name="Footer Placeholder 8">
            <a:extLst>
              <a:ext uri="{FF2B5EF4-FFF2-40B4-BE49-F238E27FC236}">
                <a16:creationId xmlns:a16="http://schemas.microsoft.com/office/drawing/2014/main" id="{0F095753-622E-2BA7-9495-60F9B6E57FDB}"/>
              </a:ext>
            </a:extLst>
          </p:cNvPr>
          <p:cNvSpPr>
            <a:spLocks noGrp="1"/>
          </p:cNvSpPr>
          <p:nvPr>
            <p:ph type="ftr" sz="quarter" idx="11"/>
          </p:nvPr>
        </p:nvSpPr>
        <p:spPr/>
        <p:txBody>
          <a:bodyPr/>
          <a:lstStyle/>
          <a:p>
            <a:endParaRPr lang="en-IN" dirty="0"/>
          </a:p>
        </p:txBody>
      </p:sp>
      <p:sp>
        <p:nvSpPr>
          <p:cNvPr id="10" name="Slide Number Placeholder 9">
            <a:extLst>
              <a:ext uri="{FF2B5EF4-FFF2-40B4-BE49-F238E27FC236}">
                <a16:creationId xmlns:a16="http://schemas.microsoft.com/office/drawing/2014/main" id="{09784944-5437-9E89-7017-F3DB9CA914FA}"/>
              </a:ext>
            </a:extLst>
          </p:cNvPr>
          <p:cNvSpPr>
            <a:spLocks noGrp="1"/>
          </p:cNvSpPr>
          <p:nvPr>
            <p:ph type="sldNum" sz="quarter" idx="12"/>
          </p:nvPr>
        </p:nvSpPr>
        <p:spPr/>
        <p:txBody>
          <a:bodyPr/>
          <a:lstStyle/>
          <a:p>
            <a:fld id="{5A3A418F-4DEE-4BB1-940B-1145D135750E}" type="slidenum">
              <a:rPr lang="en-IN" smtClean="0"/>
              <a:t>6</a:t>
            </a:fld>
            <a:endParaRPr lang="en-IN"/>
          </a:p>
        </p:txBody>
      </p:sp>
      <p:pic>
        <p:nvPicPr>
          <p:cNvPr id="6" name="Picture 5">
            <a:extLst>
              <a:ext uri="{FF2B5EF4-FFF2-40B4-BE49-F238E27FC236}">
                <a16:creationId xmlns:a16="http://schemas.microsoft.com/office/drawing/2014/main" id="{CF3EBAEA-8DC6-8F54-F0D6-38F9643BD4B7}"/>
              </a:ext>
            </a:extLst>
          </p:cNvPr>
          <p:cNvPicPr>
            <a:picLocks noChangeAspect="1"/>
          </p:cNvPicPr>
          <p:nvPr/>
        </p:nvPicPr>
        <p:blipFill>
          <a:blip r:embed="rId3"/>
          <a:stretch>
            <a:fillRect/>
          </a:stretch>
        </p:blipFill>
        <p:spPr>
          <a:xfrm>
            <a:off x="10249380" y="0"/>
            <a:ext cx="1942620" cy="622550"/>
          </a:xfrm>
          <a:prstGeom prst="rect">
            <a:avLst/>
          </a:prstGeom>
        </p:spPr>
      </p:pic>
    </p:spTree>
    <p:extLst>
      <p:ext uri="{BB962C8B-B14F-4D97-AF65-F5344CB8AC3E}">
        <p14:creationId xmlns:p14="http://schemas.microsoft.com/office/powerpoint/2010/main" val="30292770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EF2FA-32F2-6715-843F-6ACC796D053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00062CA-E93E-DFB0-5A22-1412AB9A6752}"/>
              </a:ext>
            </a:extLst>
          </p:cNvPr>
          <p:cNvSpPr txBox="1"/>
          <p:nvPr/>
        </p:nvSpPr>
        <p:spPr>
          <a:xfrm>
            <a:off x="3048000" y="446087"/>
            <a:ext cx="6096000" cy="646331"/>
          </a:xfrm>
          <a:prstGeom prst="rect">
            <a:avLst/>
          </a:prstGeom>
          <a:noFill/>
        </p:spPr>
        <p:txBody>
          <a:bodyPr wrap="square">
            <a:spAutoFit/>
          </a:bodyPr>
          <a:lstStyle/>
          <a:p>
            <a:pPr algn="ctr"/>
            <a:r>
              <a:rPr lang="en-US" sz="3600" b="1" dirty="0"/>
              <a:t>Problem Gap Identification</a:t>
            </a:r>
          </a:p>
        </p:txBody>
      </p:sp>
      <p:pic>
        <p:nvPicPr>
          <p:cNvPr id="3" name="Picture 2">
            <a:extLst>
              <a:ext uri="{FF2B5EF4-FFF2-40B4-BE49-F238E27FC236}">
                <a16:creationId xmlns:a16="http://schemas.microsoft.com/office/drawing/2014/main" id="{7777B92A-0C12-D39A-8847-98719E7B6FFF}"/>
              </a:ext>
            </a:extLst>
          </p:cNvPr>
          <p:cNvPicPr>
            <a:picLocks noChangeAspect="1"/>
          </p:cNvPicPr>
          <p:nvPr/>
        </p:nvPicPr>
        <p:blipFill>
          <a:blip r:embed="rId2"/>
          <a:stretch>
            <a:fillRect/>
          </a:stretch>
        </p:blipFill>
        <p:spPr>
          <a:xfrm>
            <a:off x="10249380" y="0"/>
            <a:ext cx="1942620" cy="622550"/>
          </a:xfrm>
          <a:prstGeom prst="rect">
            <a:avLst/>
          </a:prstGeom>
        </p:spPr>
      </p:pic>
      <p:sp>
        <p:nvSpPr>
          <p:cNvPr id="4" name="TextBox 3">
            <a:extLst>
              <a:ext uri="{FF2B5EF4-FFF2-40B4-BE49-F238E27FC236}">
                <a16:creationId xmlns:a16="http://schemas.microsoft.com/office/drawing/2014/main" id="{2F57D614-3C93-6DD5-43F9-F14217ED5C63}"/>
              </a:ext>
            </a:extLst>
          </p:cNvPr>
          <p:cNvSpPr txBox="1"/>
          <p:nvPr/>
        </p:nvSpPr>
        <p:spPr>
          <a:xfrm>
            <a:off x="529389" y="1674673"/>
            <a:ext cx="9719991" cy="1477328"/>
          </a:xfrm>
          <a:prstGeom prst="rect">
            <a:avLst/>
          </a:prstGeom>
          <a:noFill/>
        </p:spPr>
        <p:txBody>
          <a:bodyPr wrap="square">
            <a:spAutoFit/>
          </a:bodyPr>
          <a:lstStyle/>
          <a:p>
            <a:r>
              <a:rPr lang="en-IN" dirty="0"/>
              <a:t>The </a:t>
            </a:r>
            <a:r>
              <a:rPr lang="en-IN" b="1" dirty="0"/>
              <a:t>Problem Gap Identification</a:t>
            </a:r>
            <a:r>
              <a:rPr lang="en-IN" dirty="0"/>
              <a:t> is that traditional college canteens rely on manual ordering, which causes long queues, waiting time, incorrect orders, and difficulty in managing peak-hour demand. There is also no centralized system for managing food availability, order status, pickup, and records. The proposed system fills this gap by providing a </a:t>
            </a:r>
            <a:r>
              <a:rPr lang="en-IN" b="1" dirty="0"/>
              <a:t>single digital platform</a:t>
            </a:r>
            <a:r>
              <a:rPr lang="en-IN" dirty="0"/>
              <a:t> for online ordering, order tracking, food management, and QR/Order ID-based pickup verification.</a:t>
            </a:r>
          </a:p>
        </p:txBody>
      </p:sp>
    </p:spTree>
    <p:extLst>
      <p:ext uri="{BB962C8B-B14F-4D97-AF65-F5344CB8AC3E}">
        <p14:creationId xmlns:p14="http://schemas.microsoft.com/office/powerpoint/2010/main" val="20658760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C6D84-077B-7007-4B63-807557EC637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4387226-F29E-0041-5581-4EF07C7198F1}"/>
              </a:ext>
            </a:extLst>
          </p:cNvPr>
          <p:cNvSpPr txBox="1"/>
          <p:nvPr/>
        </p:nvSpPr>
        <p:spPr>
          <a:xfrm>
            <a:off x="1893060" y="567351"/>
            <a:ext cx="8405879" cy="646331"/>
          </a:xfrm>
          <a:prstGeom prst="rect">
            <a:avLst/>
          </a:prstGeom>
          <a:noFill/>
        </p:spPr>
        <p:txBody>
          <a:bodyPr wrap="square">
            <a:spAutoFit/>
          </a:bodyPr>
          <a:lstStyle/>
          <a:p>
            <a:pPr algn="ctr"/>
            <a:r>
              <a:rPr lang="en-US" sz="3600" b="1" dirty="0"/>
              <a:t>Innovation, Creativity, and Novelty</a:t>
            </a:r>
          </a:p>
        </p:txBody>
      </p:sp>
      <p:pic>
        <p:nvPicPr>
          <p:cNvPr id="3" name="Picture 2">
            <a:extLst>
              <a:ext uri="{FF2B5EF4-FFF2-40B4-BE49-F238E27FC236}">
                <a16:creationId xmlns:a16="http://schemas.microsoft.com/office/drawing/2014/main" id="{1BC5F926-1E4C-4031-B9E9-6A17F126A332}"/>
              </a:ext>
            </a:extLst>
          </p:cNvPr>
          <p:cNvPicPr>
            <a:picLocks noChangeAspect="1"/>
          </p:cNvPicPr>
          <p:nvPr/>
        </p:nvPicPr>
        <p:blipFill>
          <a:blip r:embed="rId2"/>
          <a:stretch>
            <a:fillRect/>
          </a:stretch>
        </p:blipFill>
        <p:spPr>
          <a:xfrm>
            <a:off x="10249380" y="0"/>
            <a:ext cx="1942620" cy="622550"/>
          </a:xfrm>
          <a:prstGeom prst="rect">
            <a:avLst/>
          </a:prstGeom>
        </p:spPr>
      </p:pic>
      <p:sp>
        <p:nvSpPr>
          <p:cNvPr id="4" name="TextBox 3">
            <a:extLst>
              <a:ext uri="{FF2B5EF4-FFF2-40B4-BE49-F238E27FC236}">
                <a16:creationId xmlns:a16="http://schemas.microsoft.com/office/drawing/2014/main" id="{C42351A1-E726-9607-CE11-026A90DB0A9B}"/>
              </a:ext>
            </a:extLst>
          </p:cNvPr>
          <p:cNvSpPr txBox="1"/>
          <p:nvPr/>
        </p:nvSpPr>
        <p:spPr>
          <a:xfrm>
            <a:off x="481263" y="1781033"/>
            <a:ext cx="8662737" cy="2031325"/>
          </a:xfrm>
          <a:prstGeom prst="rect">
            <a:avLst/>
          </a:prstGeom>
          <a:noFill/>
        </p:spPr>
        <p:txBody>
          <a:bodyPr wrap="square">
            <a:spAutoFit/>
          </a:bodyPr>
          <a:lstStyle/>
          <a:p>
            <a:r>
              <a:rPr lang="en-IN" dirty="0"/>
              <a:t>The </a:t>
            </a:r>
            <a:r>
              <a:rPr lang="en-IN" b="1" dirty="0"/>
              <a:t>Innovation, Creativity, and Novelty</a:t>
            </a:r>
            <a:r>
              <a:rPr lang="en-IN" dirty="0"/>
              <a:t> of the project lies in combining </a:t>
            </a:r>
            <a:r>
              <a:rPr lang="en-IN" b="1" dirty="0"/>
              <a:t>online food ordering, digital menu management, real-time order tracking, notifications, and QR/Order ID-based pickup verification</a:t>
            </a:r>
            <a:r>
              <a:rPr lang="en-IN" dirty="0"/>
              <a:t> into a single platform. The system creatively connects students and canteen staff through a structured workflow from </a:t>
            </a:r>
            <a:r>
              <a:rPr lang="en-IN" b="1" dirty="0"/>
              <a:t>order placement to final pickup</a:t>
            </a:r>
            <a:r>
              <a:rPr lang="en-IN" dirty="0"/>
              <a:t>, reducing manual work and improving efficiency. Its novelty is the integration of </a:t>
            </a:r>
            <a:r>
              <a:rPr lang="en-IN" b="1" dirty="0"/>
              <a:t>React, Spring Boot, REST APIs, MySQL, and QR-based verification</a:t>
            </a:r>
            <a:r>
              <a:rPr lang="en-IN" dirty="0"/>
              <a:t> specifically for college canteen management. </a:t>
            </a:r>
          </a:p>
        </p:txBody>
      </p:sp>
    </p:spTree>
    <p:extLst>
      <p:ext uri="{BB962C8B-B14F-4D97-AF65-F5344CB8AC3E}">
        <p14:creationId xmlns:p14="http://schemas.microsoft.com/office/powerpoint/2010/main" val="35241353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AA2CC-2C9A-D968-2F38-FFC4A7D2386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EF7CE10-08D9-83CF-7508-12575531E1E0}"/>
              </a:ext>
            </a:extLst>
          </p:cNvPr>
          <p:cNvSpPr txBox="1"/>
          <p:nvPr/>
        </p:nvSpPr>
        <p:spPr>
          <a:xfrm>
            <a:off x="2663506" y="622550"/>
            <a:ext cx="7234014" cy="707886"/>
          </a:xfrm>
          <a:prstGeom prst="rect">
            <a:avLst/>
          </a:prstGeom>
          <a:noFill/>
        </p:spPr>
        <p:txBody>
          <a:bodyPr wrap="square">
            <a:spAutoFit/>
          </a:bodyPr>
          <a:lstStyle/>
          <a:p>
            <a:pPr algn="ctr"/>
            <a:r>
              <a:rPr lang="en-US" sz="4000" b="1" dirty="0"/>
              <a:t>Feasibility and Project Plan</a:t>
            </a:r>
          </a:p>
        </p:txBody>
      </p:sp>
      <p:sp>
        <p:nvSpPr>
          <p:cNvPr id="2" name="TextBox 1">
            <a:extLst>
              <a:ext uri="{FF2B5EF4-FFF2-40B4-BE49-F238E27FC236}">
                <a16:creationId xmlns:a16="http://schemas.microsoft.com/office/drawing/2014/main" id="{3F0303AA-CEE8-2513-1736-59CB3A5EF8E4}"/>
              </a:ext>
            </a:extLst>
          </p:cNvPr>
          <p:cNvSpPr txBox="1"/>
          <p:nvPr/>
        </p:nvSpPr>
        <p:spPr>
          <a:xfrm>
            <a:off x="1381398" y="1743891"/>
            <a:ext cx="10116039" cy="369332"/>
          </a:xfrm>
          <a:prstGeom prst="rect">
            <a:avLst/>
          </a:prstGeom>
          <a:noFill/>
        </p:spPr>
        <p:txBody>
          <a:bodyPr wrap="none" rtlCol="0">
            <a:spAutoFit/>
          </a:bodyPr>
          <a:lstStyle/>
          <a:p>
            <a:r>
              <a:rPr lang="en-US" b="1" dirty="0">
                <a:solidFill>
                  <a:srgbClr val="FF0000"/>
                </a:solidFill>
              </a:rPr>
              <a:t>TIMELINE CHART FOR EACH PHASE OF YOUR PROJECT SHOULD BE THERE AFTER EXPLANATION</a:t>
            </a:r>
          </a:p>
        </p:txBody>
      </p:sp>
      <p:pic>
        <p:nvPicPr>
          <p:cNvPr id="4" name="Picture 3">
            <a:extLst>
              <a:ext uri="{FF2B5EF4-FFF2-40B4-BE49-F238E27FC236}">
                <a16:creationId xmlns:a16="http://schemas.microsoft.com/office/drawing/2014/main" id="{F971D25F-D310-56FA-A58E-B7B79C7D857D}"/>
              </a:ext>
            </a:extLst>
          </p:cNvPr>
          <p:cNvPicPr>
            <a:picLocks noChangeAspect="1"/>
          </p:cNvPicPr>
          <p:nvPr/>
        </p:nvPicPr>
        <p:blipFill>
          <a:blip r:embed="rId2"/>
          <a:stretch>
            <a:fillRect/>
          </a:stretch>
        </p:blipFill>
        <p:spPr>
          <a:xfrm>
            <a:off x="10249380" y="0"/>
            <a:ext cx="1942620" cy="622550"/>
          </a:xfrm>
          <a:prstGeom prst="rect">
            <a:avLst/>
          </a:prstGeom>
        </p:spPr>
      </p:pic>
      <p:sp>
        <p:nvSpPr>
          <p:cNvPr id="7" name="TextBox 6">
            <a:extLst>
              <a:ext uri="{FF2B5EF4-FFF2-40B4-BE49-F238E27FC236}">
                <a16:creationId xmlns:a16="http://schemas.microsoft.com/office/drawing/2014/main" id="{61A7B36C-F96E-BA0E-86E4-ADB2943F60F5}"/>
              </a:ext>
            </a:extLst>
          </p:cNvPr>
          <p:cNvSpPr txBox="1"/>
          <p:nvPr/>
        </p:nvSpPr>
        <p:spPr>
          <a:xfrm>
            <a:off x="497305" y="2526677"/>
            <a:ext cx="8646695" cy="3693319"/>
          </a:xfrm>
          <a:prstGeom prst="rect">
            <a:avLst/>
          </a:prstGeom>
          <a:noFill/>
        </p:spPr>
        <p:txBody>
          <a:bodyPr wrap="square">
            <a:spAutoFit/>
          </a:bodyPr>
          <a:lstStyle/>
          <a:p>
            <a:pPr marL="342900" lvl="0" indent="-342900">
              <a:buFont typeface="Arial" panose="020B0604020202020204" pitchFamily="34" charset="0"/>
              <a:buChar char="•"/>
            </a:pPr>
            <a:r>
              <a:rPr lang="en-IN" b="1" dirty="0"/>
              <a:t>Weeks 1–2:</a:t>
            </a:r>
            <a:r>
              <a:rPr lang="en-IN" dirty="0"/>
              <a:t> Understand the canteen problems and finalize requirements.</a:t>
            </a:r>
          </a:p>
          <a:p>
            <a:pPr marL="342900" lvl="0" indent="-342900">
              <a:buFont typeface="Arial" panose="020B0604020202020204" pitchFamily="34" charset="0"/>
              <a:buChar char="•"/>
            </a:pPr>
            <a:r>
              <a:rPr lang="en-IN" b="1" dirty="0"/>
              <a:t>Weeks 2–3:</a:t>
            </a:r>
            <a:r>
              <a:rPr lang="en-IN" dirty="0"/>
              <a:t> Design the application architecture, modules, database, and API structure.</a:t>
            </a:r>
          </a:p>
          <a:p>
            <a:pPr marL="342900" lvl="0" indent="-342900">
              <a:buFont typeface="Arial" panose="020B0604020202020204" pitchFamily="34" charset="0"/>
              <a:buChar char="•"/>
            </a:pPr>
            <a:r>
              <a:rPr lang="en-IN" b="1" dirty="0"/>
              <a:t>Weeks 3–4:</a:t>
            </a:r>
            <a:r>
              <a:rPr lang="en-IN" dirty="0"/>
              <a:t> Implement the MySQL database and required data structures.</a:t>
            </a:r>
          </a:p>
          <a:p>
            <a:pPr marL="342900" lvl="0" indent="-342900">
              <a:buFont typeface="Arial" panose="020B0604020202020204" pitchFamily="34" charset="0"/>
              <a:buChar char="•"/>
            </a:pPr>
            <a:r>
              <a:rPr lang="en-IN" b="1" dirty="0"/>
              <a:t>Weeks 4–6:</a:t>
            </a:r>
            <a:r>
              <a:rPr lang="en-IN" dirty="0"/>
              <a:t> Develop the Spring Boot backend, REST APIs, authentication, and business logic.</a:t>
            </a:r>
          </a:p>
          <a:p>
            <a:pPr marL="342900" lvl="0" indent="-342900">
              <a:buFont typeface="Arial" panose="020B0604020202020204" pitchFamily="34" charset="0"/>
              <a:buChar char="•"/>
            </a:pPr>
            <a:r>
              <a:rPr lang="en-IN" b="1" dirty="0"/>
              <a:t>Weeks 5–7:</a:t>
            </a:r>
            <a:r>
              <a:rPr lang="en-IN" dirty="0"/>
              <a:t> Develop the React student and admin interfaces.</a:t>
            </a:r>
          </a:p>
          <a:p>
            <a:pPr marL="342900" lvl="0" indent="-342900">
              <a:buFont typeface="Arial" panose="020B0604020202020204" pitchFamily="34" charset="0"/>
              <a:buChar char="•"/>
            </a:pPr>
            <a:r>
              <a:rPr lang="en-IN" b="1" dirty="0"/>
              <a:t>Weeks 7–8:</a:t>
            </a:r>
            <a:r>
              <a:rPr lang="en-IN" dirty="0"/>
              <a:t> Integrate order processing, order-status workflow, notifications, and QR/Order ID pickup verification.</a:t>
            </a:r>
          </a:p>
          <a:p>
            <a:pPr marL="342900" lvl="0" indent="-342900">
              <a:buFont typeface="Arial" panose="020B0604020202020204" pitchFamily="34" charset="0"/>
              <a:buChar char="•"/>
            </a:pPr>
            <a:r>
              <a:rPr lang="en-IN" b="1" dirty="0"/>
              <a:t>Weeks 8–9:</a:t>
            </a:r>
            <a:r>
              <a:rPr lang="en-IN" dirty="0"/>
              <a:t> Perform complete system integration and testing.</a:t>
            </a:r>
          </a:p>
          <a:p>
            <a:pPr marL="342900" lvl="0" indent="-342900">
              <a:buFont typeface="Arial" panose="020B0604020202020204" pitchFamily="34" charset="0"/>
              <a:buChar char="•"/>
            </a:pPr>
            <a:r>
              <a:rPr lang="en-IN" b="1" dirty="0"/>
              <a:t>Weeks 9–10:</a:t>
            </a:r>
            <a:r>
              <a:rPr lang="en-IN" dirty="0"/>
              <a:t> Fix identified issues and optimize the application.</a:t>
            </a:r>
          </a:p>
          <a:p>
            <a:pPr marL="342900" lvl="0" indent="-342900">
              <a:buFont typeface="Arial" panose="020B0604020202020204" pitchFamily="34" charset="0"/>
              <a:buChar char="•"/>
            </a:pPr>
            <a:r>
              <a:rPr lang="en-IN" b="1" dirty="0"/>
              <a:t>Weeks 10–11:</a:t>
            </a:r>
            <a:r>
              <a:rPr lang="en-IN" dirty="0"/>
              <a:t> Complete project documentation and prepare the demonstration.</a:t>
            </a:r>
          </a:p>
          <a:p>
            <a:pPr marL="342900" lvl="0" indent="-342900">
              <a:buFont typeface="Arial" panose="020B0604020202020204" pitchFamily="34" charset="0"/>
              <a:buChar char="•"/>
            </a:pPr>
            <a:r>
              <a:rPr lang="en-IN" b="1" dirty="0"/>
              <a:t>Week 12:</a:t>
            </a:r>
            <a:r>
              <a:rPr lang="en-IN" dirty="0"/>
              <a:t> Final deployment, project demonstration, and presentation.</a:t>
            </a:r>
          </a:p>
        </p:txBody>
      </p:sp>
    </p:spTree>
    <p:extLst>
      <p:ext uri="{BB962C8B-B14F-4D97-AF65-F5344CB8AC3E}">
        <p14:creationId xmlns:p14="http://schemas.microsoft.com/office/powerpoint/2010/main" val="41188552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74</TotalTime>
  <Words>893</Words>
  <Application>Microsoft Office PowerPoint</Application>
  <PresentationFormat>Widescreen</PresentationFormat>
  <Paragraphs>97</Paragraphs>
  <Slides>9</Slides>
  <Notes>2</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9</vt:i4>
      </vt:variant>
    </vt:vector>
  </HeadingPairs>
  <TitlesOfParts>
    <vt:vector size="17" baseType="lpstr">
      <vt:lpstr>Aptos</vt:lpstr>
      <vt:lpstr>Aptos Display</vt:lpstr>
      <vt:lpstr>Arial</vt:lpstr>
      <vt:lpstr>Calibri</vt:lpstr>
      <vt:lpstr>Calibri Light</vt:lpstr>
      <vt:lpstr>Times New Roman</vt:lpstr>
      <vt:lpstr>Office Theme</vt:lpstr>
      <vt:lpstr>1_Office Theme</vt:lpstr>
      <vt:lpstr>PowerPoint Presentation</vt:lpstr>
      <vt:lpstr>PowerPoint Presentation</vt:lpstr>
      <vt:lpstr>PowerPoint Presentation</vt:lpstr>
      <vt:lpstr>PowerPoint Presentation</vt:lpstr>
      <vt:lpstr>                  Project Architecture/Project Overview: </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srikanth ch</dc:creator>
  <cp:lastModifiedBy>Rajendra Phalani Kumar</cp:lastModifiedBy>
  <cp:revision>34</cp:revision>
  <dcterms:created xsi:type="dcterms:W3CDTF">2026-08-08T06:33:56Z</dcterms:created>
  <dcterms:modified xsi:type="dcterms:W3CDTF">2026-08-30T11:45:34Z</dcterms:modified>
</cp:coreProperties>
</file>